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handoutMasterIdLst>
    <p:handoutMasterId r:id="rId21"/>
  </p:handoutMasterIdLst>
  <p:sldIdLst>
    <p:sldId id="257" r:id="rId2"/>
    <p:sldId id="269" r:id="rId3"/>
    <p:sldId id="258" r:id="rId4"/>
    <p:sldId id="259" r:id="rId5"/>
    <p:sldId id="260" r:id="rId6"/>
    <p:sldId id="285" r:id="rId7"/>
    <p:sldId id="262" r:id="rId8"/>
    <p:sldId id="263" r:id="rId9"/>
    <p:sldId id="264" r:id="rId10"/>
    <p:sldId id="286" r:id="rId11"/>
    <p:sldId id="287" r:id="rId12"/>
    <p:sldId id="288" r:id="rId13"/>
    <p:sldId id="265" r:id="rId14"/>
    <p:sldId id="266" r:id="rId15"/>
    <p:sldId id="270" r:id="rId16"/>
    <p:sldId id="273" r:id="rId17"/>
    <p:sldId id="267"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3260"/>
    <a:srgbClr val="4590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10" autoAdjust="0"/>
  </p:normalViewPr>
  <p:slideViewPr>
    <p:cSldViewPr snapToGrid="0">
      <p:cViewPr varScale="1">
        <p:scale>
          <a:sx n="80" d="100"/>
          <a:sy n="80" d="100"/>
        </p:scale>
        <p:origin x="22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98BE05-D1BD-4732-A83A-808D5E152772}" type="datetimeFigureOut">
              <a:rPr lang="en-IN" smtClean="0"/>
              <a:t>14-10-2023</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1E9235-8F78-4CF5-88B6-DC5817416901}"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AF4ABC-3AEB-4992-8627-1D9AE43943B2}" type="datetimeFigureOut">
              <a:rPr lang="en-IN" smtClean="0"/>
              <a:t>14-10-2023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8CF52F-74E0-4275-A973-30D50E6DFCA6}"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t>10/14/2023</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10/14/2023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t>10/14/2023</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t>10/14/2023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t>10/14/2023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t>10/14/2023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t>10/14/2023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t>10/14/2023</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t>10/14/2023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10/14/2023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t>10/14/2023</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t>10/14/2023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t>10/14/2023</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3645627" y="461948"/>
            <a:ext cx="4572000" cy="922020"/>
          </a:xfrm>
          <a:prstGeom prst="rect">
            <a:avLst/>
          </a:prstGeom>
        </p:spPr>
        <p:txBody>
          <a:bodyPr>
            <a:spAutoFit/>
          </a:bodyPr>
          <a:lstStyle/>
          <a:p>
            <a:pPr algn="ctr"/>
            <a:r>
              <a:rPr lang="en-IN" dirty="0">
                <a:latin typeface="Cambria" panose="02040503050406030204" charset="0"/>
                <a:cs typeface="Cambria" panose="02040503050406030204" charset="0"/>
              </a:rPr>
              <a:t>A</a:t>
            </a:r>
          </a:p>
          <a:p>
            <a:pPr algn="ctr"/>
            <a:r>
              <a:rPr lang="en-IN" dirty="0">
                <a:latin typeface="Cambria" panose="02040503050406030204" charset="0"/>
                <a:cs typeface="Cambria" panose="02040503050406030204" charset="0"/>
              </a:rPr>
              <a:t> PRESENTATION</a:t>
            </a:r>
          </a:p>
          <a:p>
            <a:pPr algn="ctr"/>
            <a:r>
              <a:rPr lang="en-IN" dirty="0">
                <a:latin typeface="Cambria" panose="02040503050406030204" charset="0"/>
                <a:cs typeface="Cambria" panose="02040503050406030204" charset="0"/>
              </a:rPr>
              <a:t> ON</a:t>
            </a:r>
          </a:p>
        </p:txBody>
      </p:sp>
      <p:sp>
        <p:nvSpPr>
          <p:cNvPr id="11" name="Rectangle 10"/>
          <p:cNvSpPr/>
          <p:nvPr/>
        </p:nvSpPr>
        <p:spPr>
          <a:xfrm>
            <a:off x="2971800" y="1284605"/>
            <a:ext cx="6019800" cy="3587115"/>
          </a:xfrm>
          <a:prstGeom prst="rect">
            <a:avLst/>
          </a:prstGeom>
        </p:spPr>
        <p:txBody>
          <a:bodyPr wrap="square">
            <a:noAutofit/>
          </a:bodyPr>
          <a:lstStyle/>
          <a:p>
            <a:pPr algn="ctr"/>
            <a:r>
              <a:rPr lang="en-US" altLang="en-IN" b="1" dirty="0">
                <a:latin typeface="Cambria" panose="02040503050406030204" charset="0"/>
                <a:cs typeface="Cambria" panose="02040503050406030204" charset="0"/>
              </a:rPr>
              <a:t>“Sarkari Yojana Android App</a:t>
            </a:r>
            <a:r>
              <a:rPr lang="en-IN" b="1" dirty="0">
                <a:latin typeface="Cambria" panose="02040503050406030204" charset="0"/>
                <a:cs typeface="Cambria" panose="02040503050406030204" charset="0"/>
              </a:rPr>
              <a:t>”</a:t>
            </a:r>
          </a:p>
          <a:p>
            <a:pPr algn="ctr"/>
            <a:endParaRPr lang="en-IN" dirty="0">
              <a:latin typeface="Cambria" panose="02040503050406030204" charset="0"/>
              <a:cs typeface="Cambria" panose="02040503050406030204" charset="0"/>
            </a:endParaRPr>
          </a:p>
          <a:p>
            <a:pPr algn="ctr"/>
            <a:r>
              <a:rPr lang="en-IN" b="1" dirty="0">
                <a:latin typeface="Cambria" panose="02040503050406030204" charset="0"/>
                <a:cs typeface="Cambria" panose="02040503050406030204" charset="0"/>
              </a:rPr>
              <a:t>SUBMITTED BY</a:t>
            </a:r>
          </a:p>
          <a:p>
            <a:pPr algn="ctr"/>
            <a:r>
              <a:rPr lang="en-IN" dirty="0">
                <a:latin typeface="Cambria" panose="02040503050406030204" charset="0"/>
                <a:cs typeface="Cambria" panose="02040503050406030204" charset="0"/>
              </a:rPr>
              <a:t> </a:t>
            </a:r>
            <a:r>
              <a:rPr lang="en-IN" altLang="en-IN" dirty="0">
                <a:latin typeface="Cambria" panose="02040503050406030204" charset="0"/>
                <a:cs typeface="Cambria" panose="02040503050406030204" charset="0"/>
              </a:rPr>
              <a:t>Neha </a:t>
            </a:r>
            <a:r>
              <a:rPr lang="en-IN" altLang="en-IN" dirty="0" err="1">
                <a:latin typeface="Cambria" panose="02040503050406030204" charset="0"/>
                <a:cs typeface="Cambria" panose="02040503050406030204" charset="0"/>
              </a:rPr>
              <a:t>Dhanorkar</a:t>
            </a:r>
            <a:r>
              <a:rPr lang="en-IN" altLang="en-IN" dirty="0">
                <a:latin typeface="Cambria" panose="02040503050406030204" charset="0"/>
                <a:cs typeface="Cambria" panose="02040503050406030204" charset="0"/>
              </a:rPr>
              <a:t> </a:t>
            </a:r>
          </a:p>
          <a:p>
            <a:pPr algn="ctr"/>
            <a:r>
              <a:rPr lang="en-IN" dirty="0">
                <a:latin typeface="Cambria" panose="02040503050406030204" charset="0"/>
                <a:cs typeface="Cambria" panose="02040503050406030204" charset="0"/>
              </a:rPr>
              <a:t>Harshada </a:t>
            </a:r>
            <a:r>
              <a:rPr lang="en-IN" dirty="0" err="1">
                <a:latin typeface="Cambria" panose="02040503050406030204" charset="0"/>
                <a:cs typeface="Cambria" panose="02040503050406030204" charset="0"/>
              </a:rPr>
              <a:t>Dagale</a:t>
            </a:r>
            <a:endParaRPr lang="en-IN" dirty="0">
              <a:latin typeface="Cambria" panose="02040503050406030204" charset="0"/>
              <a:cs typeface="Cambria" panose="02040503050406030204" charset="0"/>
            </a:endParaRPr>
          </a:p>
          <a:p>
            <a:pPr algn="ctr"/>
            <a:r>
              <a:rPr lang="en-IN" dirty="0">
                <a:latin typeface="Cambria" panose="02040503050406030204" charset="0"/>
                <a:cs typeface="Cambria" panose="02040503050406030204" charset="0"/>
              </a:rPr>
              <a:t>Anisha Deshmukh</a:t>
            </a:r>
          </a:p>
          <a:p>
            <a:pPr algn="ctr"/>
            <a:r>
              <a:rPr lang="en-IN" dirty="0">
                <a:latin typeface="Cambria" panose="02040503050406030204" charset="0"/>
                <a:cs typeface="Cambria" panose="02040503050406030204" charset="0"/>
              </a:rPr>
              <a:t>Kirti Chavan</a:t>
            </a:r>
          </a:p>
          <a:p>
            <a:pPr algn="ctr"/>
            <a:r>
              <a:rPr lang="en-IN" dirty="0">
                <a:latin typeface="Cambria" panose="02040503050406030204" charset="0"/>
                <a:cs typeface="Cambria" panose="02040503050406030204" charset="0"/>
              </a:rPr>
              <a:t> </a:t>
            </a:r>
          </a:p>
          <a:p>
            <a:pPr algn="ctr"/>
            <a:r>
              <a:rPr lang="en-IN" dirty="0">
                <a:latin typeface="Cambria" panose="02040503050406030204" charset="0"/>
                <a:cs typeface="Cambria" panose="02040503050406030204" charset="0"/>
              </a:rPr>
              <a:t>UNDER THE GUIDANCE OF</a:t>
            </a:r>
          </a:p>
          <a:p>
            <a:pPr algn="ctr"/>
            <a:r>
              <a:rPr lang="en-IN" dirty="0">
                <a:latin typeface="Cambria" panose="02040503050406030204" charset="0"/>
                <a:cs typeface="Cambria" panose="02040503050406030204" charset="0"/>
              </a:rPr>
              <a:t>PROF. R.C. MAHAJAN</a:t>
            </a:r>
          </a:p>
        </p:txBody>
      </p:sp>
      <p:sp>
        <p:nvSpPr>
          <p:cNvPr id="12" name="Rectangle 11"/>
          <p:cNvSpPr/>
          <p:nvPr/>
        </p:nvSpPr>
        <p:spPr>
          <a:xfrm>
            <a:off x="3645627" y="5583872"/>
            <a:ext cx="4572000" cy="1198880"/>
          </a:xfrm>
          <a:prstGeom prst="rect">
            <a:avLst/>
          </a:prstGeom>
        </p:spPr>
        <p:txBody>
          <a:bodyPr>
            <a:spAutoFit/>
          </a:bodyPr>
          <a:lstStyle/>
          <a:p>
            <a:pPr algn="ctr"/>
            <a:r>
              <a:rPr lang="en-IN" dirty="0">
                <a:latin typeface="Cambria" panose="02040503050406030204" charset="0"/>
                <a:cs typeface="Cambria" panose="02040503050406030204" charset="0"/>
              </a:rPr>
              <a:t>DEPARTMENT OF COMPUTER ENGINEERING</a:t>
            </a:r>
          </a:p>
          <a:p>
            <a:pPr algn="ctr"/>
            <a:r>
              <a:rPr lang="en-IN" dirty="0">
                <a:latin typeface="Cambria" panose="02040503050406030204" charset="0"/>
                <a:cs typeface="Cambria" panose="02040503050406030204" charset="0"/>
              </a:rPr>
              <a:t>SANDIP POLYTECHNIC, NASHIK</a:t>
            </a:r>
          </a:p>
          <a:p>
            <a:pPr algn="ctr"/>
            <a:r>
              <a:rPr lang="en-IN" dirty="0">
                <a:latin typeface="Cambria" panose="02040503050406030204" charset="0"/>
                <a:cs typeface="Cambria" panose="02040503050406030204" charset="0"/>
              </a:rPr>
              <a:t> </a:t>
            </a:r>
            <a:r>
              <a:rPr lang="en-IN" b="1" dirty="0">
                <a:latin typeface="Cambria" panose="02040503050406030204" charset="0"/>
                <a:cs typeface="Cambria" panose="02040503050406030204" charset="0"/>
              </a:rPr>
              <a:t>(202</a:t>
            </a:r>
            <a:r>
              <a:rPr lang="en-US" altLang="en-IN" b="1" dirty="0">
                <a:latin typeface="Cambria" panose="02040503050406030204" charset="0"/>
                <a:cs typeface="Cambria" panose="02040503050406030204" charset="0"/>
              </a:rPr>
              <a:t>3</a:t>
            </a:r>
            <a:r>
              <a:rPr lang="en-IN" b="1" dirty="0">
                <a:latin typeface="Cambria" panose="02040503050406030204" charset="0"/>
                <a:cs typeface="Cambria" panose="02040503050406030204" charset="0"/>
              </a:rPr>
              <a:t>-202</a:t>
            </a:r>
            <a:r>
              <a:rPr lang="en-US" altLang="en-IN" b="1" dirty="0">
                <a:latin typeface="Cambria" panose="02040503050406030204" charset="0"/>
                <a:cs typeface="Cambria" panose="02040503050406030204" charset="0"/>
              </a:rPr>
              <a:t>4</a:t>
            </a:r>
            <a:r>
              <a:rPr lang="en-IN" b="1" dirty="0">
                <a:latin typeface="Cambria" panose="02040503050406030204" charset="0"/>
                <a:cs typeface="Cambria" panose="02040503050406030204" charset="0"/>
              </a:rPr>
              <a:t>)</a:t>
            </a:r>
          </a:p>
        </p:txBody>
      </p:sp>
      <p:pic>
        <p:nvPicPr>
          <p:cNvPr id="13"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6301" y="4053670"/>
            <a:ext cx="2590800" cy="16468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a:t>
            </a:r>
            <a:endParaRPr lang="en-IN" dirty="0"/>
          </a:p>
        </p:txBody>
      </p:sp>
      <p:sp>
        <p:nvSpPr>
          <p:cNvPr id="3" name="TextBox 2"/>
          <p:cNvSpPr txBox="1"/>
          <p:nvPr/>
        </p:nvSpPr>
        <p:spPr>
          <a:xfrm>
            <a:off x="701675" y="2816225"/>
            <a:ext cx="11490325" cy="1124282"/>
          </a:xfrm>
          <a:prstGeom prst="rect">
            <a:avLst/>
          </a:prstGeom>
          <a:noFill/>
        </p:spPr>
        <p:txBody>
          <a:bodyPr wrap="square">
            <a:spAutoFit/>
          </a:bodyPr>
          <a:lstStyle/>
          <a:p>
            <a:pPr>
              <a:lnSpc>
                <a:spcPct val="107000"/>
              </a:lnSpc>
              <a:spcAft>
                <a:spcPts val="800"/>
              </a:spcAft>
            </a:pPr>
            <a:r>
              <a:rPr lang="en-US" altLang="en-IN" sz="6600" b="1" dirty="0">
                <a:latin typeface="Cambria" panose="02040503050406030204" charset="0"/>
                <a:cs typeface="Cambria" panose="02040503050406030204" charset="0"/>
                <a:sym typeface="+mn-ea"/>
              </a:rPr>
              <a:t>Sarkari Yojana Android App</a:t>
            </a:r>
            <a:endParaRPr lang="en-IN" sz="6600" b="1" u="sng"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p:cNvSpPr txBox="1"/>
          <p:nvPr/>
        </p:nvSpPr>
        <p:spPr>
          <a:xfrm>
            <a:off x="701675" y="3957253"/>
            <a:ext cx="6096000" cy="552450"/>
          </a:xfrm>
          <a:prstGeom prst="rect">
            <a:avLst/>
          </a:prstGeom>
          <a:noFill/>
        </p:spPr>
        <p:txBody>
          <a:bodyPr wrap="square">
            <a:spAutoFit/>
          </a:bodyPr>
          <a:lstStyle/>
          <a:p>
            <a:pPr>
              <a:lnSpc>
                <a:spcPct val="107000"/>
              </a:lnSpc>
              <a:spcAft>
                <a:spcPts val="800"/>
              </a:spcAft>
            </a:pPr>
            <a:r>
              <a:rPr lang="en-US" sz="2800" u="sng" dirty="0">
                <a:solidFill>
                  <a:srgbClr val="4590B8"/>
                </a:solidFill>
                <a:latin typeface="Calibri" panose="020F0502020204030204" pitchFamily="34" charset="0"/>
                <a:ea typeface="Calibri" panose="020F0502020204030204" pitchFamily="34" charset="0"/>
                <a:cs typeface="Times New Roman" panose="02020603050405020304" pitchFamily="18" charset="0"/>
              </a:rPr>
              <a:t>Government Schemes</a:t>
            </a:r>
            <a:endParaRPr lang="en-US" sz="2800" u="sng" dirty="0">
              <a:solidFill>
                <a:srgbClr val="4590B8"/>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 name="Straight Connector 4"/>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u="sng" dirty="0"/>
              <a:t>Contents:</a:t>
            </a:r>
            <a:endParaRPr lang="en-IN" b="1" dirty="0"/>
          </a:p>
        </p:txBody>
      </p:sp>
      <p:sp>
        <p:nvSpPr>
          <p:cNvPr id="3" name="Content Placeholder 2"/>
          <p:cNvSpPr>
            <a:spLocks noGrp="1"/>
          </p:cNvSpPr>
          <p:nvPr>
            <p:ph idx="1"/>
          </p:nvPr>
        </p:nvSpPr>
        <p:spPr/>
        <p:txBody>
          <a:bodyPr>
            <a:normAutofit fontScale="92500" lnSpcReduction="20000"/>
          </a:bodyPr>
          <a:lstStyle/>
          <a:p>
            <a:pPr marL="541655" indent="-514350">
              <a:buAutoNum type="arabicParenR"/>
            </a:pPr>
            <a:r>
              <a:rPr lang="en-US" dirty="0">
                <a:solidFill>
                  <a:schemeClr val="accent1">
                    <a:lumMod val="50000"/>
                  </a:schemeClr>
                </a:solidFill>
                <a:latin typeface="Book Antiqua" pitchFamily="18" charset="0"/>
              </a:rPr>
              <a:t>Introduction</a:t>
            </a:r>
          </a:p>
          <a:p>
            <a:pPr marL="541655" indent="-514350">
              <a:buAutoNum type="arabicParenR"/>
            </a:pPr>
            <a:r>
              <a:rPr lang="en-US" dirty="0">
                <a:solidFill>
                  <a:schemeClr val="accent1">
                    <a:lumMod val="50000"/>
                  </a:schemeClr>
                </a:solidFill>
                <a:latin typeface="Book Antiqua" pitchFamily="18" charset="0"/>
              </a:rPr>
              <a:t>Existing system </a:t>
            </a:r>
          </a:p>
          <a:p>
            <a:pPr marL="541655" indent="-514350">
              <a:buAutoNum type="arabicParenR"/>
            </a:pPr>
            <a:r>
              <a:rPr lang="en-US" dirty="0">
                <a:solidFill>
                  <a:schemeClr val="accent1">
                    <a:lumMod val="50000"/>
                  </a:schemeClr>
                </a:solidFill>
                <a:latin typeface="Book Antiqua" pitchFamily="18" charset="0"/>
              </a:rPr>
              <a:t>Drawbacks of Existing System</a:t>
            </a:r>
          </a:p>
          <a:p>
            <a:pPr marL="541655" indent="-514350">
              <a:buAutoNum type="arabicParenR"/>
            </a:pPr>
            <a:r>
              <a:rPr lang="en-US" dirty="0">
                <a:solidFill>
                  <a:schemeClr val="accent1">
                    <a:lumMod val="50000"/>
                  </a:schemeClr>
                </a:solidFill>
                <a:latin typeface="Book Antiqua" pitchFamily="18" charset="0"/>
              </a:rPr>
              <a:t>Proposed System</a:t>
            </a:r>
          </a:p>
          <a:p>
            <a:pPr marL="541655" indent="-514350">
              <a:buAutoNum type="arabicParenR"/>
            </a:pPr>
            <a:r>
              <a:rPr lang="en-US" dirty="0">
                <a:solidFill>
                  <a:schemeClr val="accent1">
                    <a:lumMod val="50000"/>
                  </a:schemeClr>
                </a:solidFill>
                <a:latin typeface="Book Antiqua" pitchFamily="18" charset="0"/>
              </a:rPr>
              <a:t>Block Diagram</a:t>
            </a:r>
          </a:p>
          <a:p>
            <a:pPr marL="541655" indent="-514350">
              <a:buAutoNum type="arabicParenR"/>
            </a:pPr>
            <a:r>
              <a:rPr lang="en-US" dirty="0">
                <a:solidFill>
                  <a:schemeClr val="accent1">
                    <a:lumMod val="50000"/>
                  </a:schemeClr>
                </a:solidFill>
                <a:latin typeface="Book Antiqua" pitchFamily="18" charset="0"/>
              </a:rPr>
              <a:t>Data Flow Diagram</a:t>
            </a:r>
          </a:p>
          <a:p>
            <a:pPr marL="541655" indent="-514350">
              <a:buAutoNum type="arabicParenR"/>
            </a:pPr>
            <a:r>
              <a:rPr lang="en-US" dirty="0">
                <a:solidFill>
                  <a:schemeClr val="accent1">
                    <a:lumMod val="50000"/>
                  </a:schemeClr>
                </a:solidFill>
                <a:latin typeface="Book Antiqua" pitchFamily="18" charset="0"/>
              </a:rPr>
              <a:t>Requirement Analysis</a:t>
            </a:r>
          </a:p>
          <a:p>
            <a:pPr marL="541655" indent="-514350">
              <a:buAutoNum type="arabicParenR"/>
            </a:pPr>
            <a:r>
              <a:rPr lang="en-US" dirty="0">
                <a:solidFill>
                  <a:schemeClr val="accent1">
                    <a:lumMod val="50000"/>
                  </a:schemeClr>
                </a:solidFill>
                <a:latin typeface="Book Antiqua" pitchFamily="18" charset="0"/>
              </a:rPr>
              <a:t>Advantages</a:t>
            </a:r>
          </a:p>
          <a:p>
            <a:pPr marL="541655" indent="-514350">
              <a:buAutoNum type="arabicParenR"/>
            </a:pPr>
            <a:r>
              <a:rPr lang="en-US" dirty="0">
                <a:solidFill>
                  <a:schemeClr val="accent1">
                    <a:lumMod val="50000"/>
                  </a:schemeClr>
                </a:solidFill>
                <a:latin typeface="Book Antiqua" pitchFamily="18" charset="0"/>
              </a:rPr>
              <a:t>Applications</a:t>
            </a:r>
          </a:p>
          <a:p>
            <a:pPr marL="541655" indent="-514350">
              <a:buAutoNum type="arabicParenR"/>
            </a:pPr>
            <a:r>
              <a:rPr lang="en-US" dirty="0">
                <a:solidFill>
                  <a:schemeClr val="accent1">
                    <a:lumMod val="50000"/>
                  </a:schemeClr>
                </a:solidFill>
                <a:latin typeface="Book Antiqua" pitchFamily="18" charset="0"/>
              </a:rPr>
              <a:t>Future Scope</a:t>
            </a:r>
          </a:p>
          <a:p>
            <a:pPr marL="541655" indent="-514350">
              <a:buAutoNum type="arabicParenR"/>
            </a:pPr>
            <a:r>
              <a:rPr lang="en-US" dirty="0">
                <a:solidFill>
                  <a:schemeClr val="accent1">
                    <a:lumMod val="50000"/>
                  </a:schemeClr>
                </a:solidFill>
                <a:latin typeface="Book Antiqua" pitchFamily="18" charset="0"/>
              </a:rPr>
              <a:t>Conclusion</a:t>
            </a:r>
          </a:p>
        </p:txBody>
      </p:sp>
      <p:pic>
        <p:nvPicPr>
          <p:cNvPr id="8"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u="sng" dirty="0"/>
              <a:t>Introduction:</a:t>
            </a:r>
            <a:endParaRPr lang="en-IN" b="1" dirty="0"/>
          </a:p>
        </p:txBody>
      </p:sp>
      <p:sp>
        <p:nvSpPr>
          <p:cNvPr id="3" name="Content Placeholder 2"/>
          <p:cNvSpPr>
            <a:spLocks noGrp="1"/>
          </p:cNvSpPr>
          <p:nvPr>
            <p:ph idx="1"/>
          </p:nvPr>
        </p:nvSpPr>
        <p:spPr/>
        <p:txBody>
          <a:bodyPr>
            <a:normAutofit/>
          </a:bodyPr>
          <a:lstStyle/>
          <a:p>
            <a:pPr marL="457200" lvl="0" indent="-457200" algn="just">
              <a:spcBef>
                <a:spcPts val="0"/>
              </a:spcBef>
              <a:spcAft>
                <a:spcPts val="0"/>
              </a:spcAft>
              <a:buClr>
                <a:schemeClr val="dk1"/>
              </a:buClr>
              <a:buSzPts val="3770"/>
              <a:buFont typeface="Noto Sans Symbols"/>
              <a:buChar char="▪"/>
            </a:pPr>
            <a:r>
              <a:rPr lang="en-US" sz="2400" dirty="0">
                <a:solidFill>
                  <a:schemeClr val="dk1"/>
                </a:solidFill>
                <a:latin typeface="Cambria" panose="02040503050406030204" charset="0"/>
                <a:cs typeface="Cambria" panose="02040503050406030204" charset="0"/>
              </a:rPr>
              <a:t>There are many useful government schemes and policies run by state and central government in India. </a:t>
            </a:r>
          </a:p>
          <a:p>
            <a:pPr marL="457200" lvl="0" indent="-457200" algn="just">
              <a:spcBef>
                <a:spcPts val="0"/>
              </a:spcBef>
              <a:spcAft>
                <a:spcPts val="0"/>
              </a:spcAft>
              <a:buClr>
                <a:schemeClr val="dk1"/>
              </a:buClr>
              <a:buSzPts val="3770"/>
              <a:buFont typeface="Noto Sans Symbols"/>
              <a:buChar char="▪"/>
            </a:pPr>
            <a:r>
              <a:rPr lang="en-US" sz="2400" dirty="0">
                <a:solidFill>
                  <a:schemeClr val="dk1"/>
                </a:solidFill>
                <a:latin typeface="Cambria" panose="02040503050406030204" charset="0"/>
                <a:cs typeface="Cambria" panose="02040503050406030204" charset="0"/>
              </a:rPr>
              <a:t>The Government of India launches different usable schemes from time regularly. </a:t>
            </a:r>
          </a:p>
          <a:p>
            <a:pPr marL="457200" lvl="0" indent="-457200" algn="just">
              <a:spcBef>
                <a:spcPts val="0"/>
              </a:spcBef>
              <a:spcAft>
                <a:spcPts val="0"/>
              </a:spcAft>
              <a:buClr>
                <a:schemeClr val="dk1"/>
              </a:buClr>
              <a:buSzPts val="3770"/>
              <a:buFont typeface="Noto Sans Symbols"/>
              <a:buChar char="▪"/>
            </a:pPr>
            <a:r>
              <a:rPr lang="en-US" sz="2400" dirty="0">
                <a:solidFill>
                  <a:schemeClr val="dk1"/>
                </a:solidFill>
                <a:latin typeface="Cambria" panose="02040503050406030204" charset="0"/>
                <a:cs typeface="Cambria" panose="02040503050406030204" charset="0"/>
              </a:rPr>
              <a:t>The purpose of such government policies are to empower the special class of people and provide motivation in order to achieve life standards. </a:t>
            </a:r>
          </a:p>
          <a:p>
            <a:pPr marL="457200" lvl="0" indent="-457200" algn="just">
              <a:spcBef>
                <a:spcPts val="0"/>
              </a:spcBef>
              <a:spcAft>
                <a:spcPts val="0"/>
              </a:spcAft>
              <a:buClr>
                <a:schemeClr val="dk1"/>
              </a:buClr>
              <a:buSzPts val="3770"/>
              <a:buFont typeface="Noto Sans Symbols"/>
              <a:buChar char="▪"/>
            </a:pPr>
            <a:r>
              <a:rPr lang="en-US" sz="2400" dirty="0">
                <a:solidFill>
                  <a:schemeClr val="dk1"/>
                </a:solidFill>
                <a:latin typeface="Cambria" panose="02040503050406030204" charset="0"/>
                <a:cs typeface="Cambria" panose="02040503050406030204" charset="0"/>
              </a:rPr>
              <a:t>The actual aim of the project has been to provide different useful information that fulfill their need and support financially to overcome gap between rich and poor people.</a:t>
            </a:r>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u="sng" dirty="0">
                <a:latin typeface="Cambria" panose="02040503050406030204" charset="0"/>
                <a:cs typeface="Cambria" panose="02040503050406030204" charset="0"/>
              </a:rPr>
              <a:t>Existing system:</a:t>
            </a:r>
            <a:endParaRPr lang="en-IN" b="1" dirty="0">
              <a:latin typeface="Cambria" panose="02040503050406030204" charset="0"/>
              <a:cs typeface="Cambria" panose="02040503050406030204" charset="0"/>
            </a:endParaRPr>
          </a:p>
        </p:txBody>
      </p:sp>
      <p:sp>
        <p:nvSpPr>
          <p:cNvPr id="3" name="Content Placeholder 2"/>
          <p:cNvSpPr>
            <a:spLocks noGrp="1"/>
          </p:cNvSpPr>
          <p:nvPr>
            <p:ph idx="1"/>
          </p:nvPr>
        </p:nvSpPr>
        <p:spPr>
          <a:xfrm>
            <a:off x="508001" y="2911150"/>
            <a:ext cx="11495457" cy="2031391"/>
          </a:xfrm>
        </p:spPr>
        <p:txBody>
          <a:bodyPr>
            <a:noAutofit/>
          </a:bodyPr>
          <a:lstStyle/>
          <a:p>
            <a:pPr marL="457200" lvl="0" indent="-457200" algn="just">
              <a:spcBef>
                <a:spcPts val="0"/>
              </a:spcBef>
              <a:spcAft>
                <a:spcPts val="0"/>
              </a:spcAft>
              <a:buClr>
                <a:schemeClr val="dk1"/>
              </a:buClr>
              <a:buSzPts val="3770"/>
              <a:buFont typeface="Noto Sans Symbols"/>
              <a:buChar char="▪"/>
            </a:pPr>
            <a:r>
              <a:rPr lang="en-US" sz="2800" dirty="0">
                <a:latin typeface="Cambria" panose="02040503050406030204" charset="0"/>
                <a:cs typeface="Cambria" panose="02040503050406030204" charset="0"/>
              </a:rPr>
              <a:t> Existing system is a manual one in every panchayat displays the list of available schemes provided by the Government. </a:t>
            </a:r>
          </a:p>
          <a:p>
            <a:pPr marL="457200" lvl="0" indent="-457200" algn="just">
              <a:spcBef>
                <a:spcPts val="0"/>
              </a:spcBef>
              <a:spcAft>
                <a:spcPts val="0"/>
              </a:spcAft>
              <a:buClr>
                <a:schemeClr val="dk1"/>
              </a:buClr>
              <a:buSzPts val="3770"/>
              <a:buFont typeface="Noto Sans Symbols"/>
              <a:buChar char="▪"/>
            </a:pPr>
            <a:r>
              <a:rPr lang="en-US" sz="2800" dirty="0">
                <a:latin typeface="Cambria" panose="02040503050406030204" charset="0"/>
                <a:cs typeface="Cambria" panose="02040503050406030204" charset="0"/>
              </a:rPr>
              <a:t>It invites the applications from the eligible users based on certain criteria. </a:t>
            </a:r>
          </a:p>
          <a:p>
            <a:pPr marL="457200" lvl="0" indent="-457200" algn="just">
              <a:spcBef>
                <a:spcPts val="0"/>
              </a:spcBef>
              <a:spcAft>
                <a:spcPts val="0"/>
              </a:spcAft>
              <a:buClr>
                <a:schemeClr val="dk1"/>
              </a:buClr>
              <a:buSzPts val="3770"/>
              <a:buFont typeface="Noto Sans Symbols"/>
              <a:buChar char="▪"/>
            </a:pPr>
            <a:r>
              <a:rPr lang="en-US" sz="2800" dirty="0">
                <a:latin typeface="Cambria" panose="02040503050406030204" charset="0"/>
                <a:cs typeface="Cambria" panose="02040503050406030204" charset="0"/>
              </a:rPr>
              <a:t>All the applications are verified at panchayat level and then approved applications are sent to District level for approval. </a:t>
            </a:r>
          </a:p>
          <a:p>
            <a:pPr marL="457200" lvl="0" indent="-457200" algn="just">
              <a:spcBef>
                <a:spcPts val="0"/>
              </a:spcBef>
              <a:spcAft>
                <a:spcPts val="0"/>
              </a:spcAft>
              <a:buClr>
                <a:schemeClr val="dk1"/>
              </a:buClr>
              <a:buSzPts val="3770"/>
              <a:buFont typeface="Noto Sans Symbols"/>
              <a:buChar char="▪"/>
            </a:pPr>
            <a:r>
              <a:rPr lang="en-US" sz="2800" dirty="0">
                <a:latin typeface="Cambria" panose="02040503050406030204" charset="0"/>
                <a:cs typeface="Cambria" panose="02040503050406030204" charset="0"/>
              </a:rPr>
              <a:t>All the approved users avail the benefits of the scheme.</a:t>
            </a:r>
            <a:endParaRPr lang="en-US" sz="2800" dirty="0">
              <a:solidFill>
                <a:schemeClr val="tx1"/>
              </a:solidFill>
              <a:latin typeface="Cambria" panose="02040503050406030204" charset="0"/>
              <a:cs typeface="Cambria" panose="02040503050406030204" charset="0"/>
            </a:endParaRPr>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84878" y="684685"/>
            <a:ext cx="11029315" cy="588645"/>
          </a:xfrm>
        </p:spPr>
        <p:txBody>
          <a:bodyPr/>
          <a:lstStyle/>
          <a:p>
            <a:pPr algn="l"/>
            <a:r>
              <a:rPr lang="en-US" dirty="0">
                <a:sym typeface="+mn-ea"/>
              </a:rPr>
              <a:t>	     </a:t>
            </a:r>
            <a:r>
              <a:rPr lang="en-US" b="1" u="sng" dirty="0">
                <a:sym typeface="+mn-ea"/>
              </a:rPr>
              <a:t>Drawbacks of existing system:</a:t>
            </a:r>
            <a:endParaRPr lang="en-US" dirty="0"/>
          </a:p>
        </p:txBody>
      </p:sp>
      <p:sp>
        <p:nvSpPr>
          <p:cNvPr id="6" name="Content Placeholder 5"/>
          <p:cNvSpPr>
            <a:spLocks noGrp="1"/>
          </p:cNvSpPr>
          <p:nvPr>
            <p:ph sz="half" idx="2"/>
          </p:nvPr>
        </p:nvSpPr>
        <p:spPr>
          <a:xfrm>
            <a:off x="581194" y="2251047"/>
            <a:ext cx="5393100" cy="2934999"/>
          </a:xfrm>
        </p:spPr>
        <p:txBody>
          <a:bodyPr>
            <a:noAutofit/>
          </a:bodyPr>
          <a:lstStyle/>
          <a:p>
            <a:pPr algn="just">
              <a:buClr>
                <a:srgbClr val="000000"/>
              </a:buClr>
              <a:buFont typeface="Wingdings" panose="05000000000000000000" charset="0"/>
              <a:buChar char="q"/>
            </a:pPr>
            <a:r>
              <a:rPr lang="en-IN" sz="2400" dirty="0">
                <a:solidFill>
                  <a:schemeClr val="tx1"/>
                </a:solidFill>
                <a:latin typeface="Cambria" panose="02040503050406030204" charset="0"/>
                <a:cs typeface="Cambria" panose="02040503050406030204" charset="0"/>
                <a:sym typeface="+mn-ea"/>
              </a:rPr>
              <a:t>Lack of Interactivity</a:t>
            </a:r>
            <a:endParaRPr lang="en-IN" sz="2400" dirty="0">
              <a:solidFill>
                <a:schemeClr val="tx1"/>
              </a:solidFill>
              <a:latin typeface="Cambria" panose="02040503050406030204" charset="0"/>
              <a:cs typeface="Cambria" panose="02040503050406030204" charset="0"/>
            </a:endParaRPr>
          </a:p>
          <a:p>
            <a:pPr algn="just">
              <a:buClr>
                <a:srgbClr val="000000"/>
              </a:buClr>
              <a:buFont typeface="Wingdings" panose="05000000000000000000" charset="0"/>
              <a:buChar char="q"/>
            </a:pPr>
            <a:r>
              <a:rPr lang="en-IN" sz="2400" dirty="0">
                <a:solidFill>
                  <a:schemeClr val="tx1"/>
                </a:solidFill>
                <a:latin typeface="Cambria" panose="02040503050406030204" charset="0"/>
                <a:cs typeface="Cambria" panose="02040503050406030204" charset="0"/>
                <a:sym typeface="+mn-ea"/>
              </a:rPr>
              <a:t>Not Trustworthy</a:t>
            </a:r>
          </a:p>
          <a:p>
            <a:pPr>
              <a:buClr>
                <a:srgbClr val="0D0D0D"/>
              </a:buClr>
              <a:buFont typeface="Wingdings" panose="05000000000000000000" charset="0"/>
              <a:buChar char="q"/>
            </a:pPr>
            <a:r>
              <a:rPr lang="en-US" sz="2400" dirty="0">
                <a:solidFill>
                  <a:schemeClr val="tx1"/>
                </a:solidFill>
                <a:latin typeface="Cambria" panose="02040503050406030204" charset="0"/>
                <a:cs typeface="Cambria" panose="02040503050406030204" charset="0"/>
              </a:rPr>
              <a:t>Security Concerns</a:t>
            </a:r>
          </a:p>
          <a:p>
            <a:pPr>
              <a:buClr>
                <a:srgbClr val="0D0D0D"/>
              </a:buClr>
              <a:buFont typeface="Wingdings" panose="05000000000000000000" charset="0"/>
              <a:buChar char="q"/>
            </a:pPr>
            <a:r>
              <a:rPr lang="en-US" sz="2400" dirty="0">
                <a:solidFill>
                  <a:schemeClr val="tx1"/>
                </a:solidFill>
                <a:latin typeface="Cambria" panose="02040503050406030204" charset="0"/>
                <a:cs typeface="Cambria" panose="02040503050406030204" charset="0"/>
              </a:rPr>
              <a:t>Privacy Concerns</a:t>
            </a:r>
          </a:p>
          <a:p>
            <a:pPr>
              <a:buClr>
                <a:srgbClr val="0D0D0D"/>
              </a:buClr>
              <a:buFont typeface="Wingdings" panose="05000000000000000000" charset="0"/>
              <a:buChar char="q"/>
            </a:pPr>
            <a:r>
              <a:rPr lang="en-US" sz="2400" dirty="0">
                <a:solidFill>
                  <a:schemeClr val="tx1"/>
                </a:solidFill>
                <a:latin typeface="Cambria" panose="02040503050406030204" charset="0"/>
                <a:cs typeface="Cambria" panose="02040503050406030204" charset="0"/>
              </a:rPr>
              <a:t>Ineffective Feedback Mechanisms</a:t>
            </a:r>
          </a:p>
          <a:p>
            <a:pPr>
              <a:buClr>
                <a:srgbClr val="0D0D0D"/>
              </a:buClr>
              <a:buFont typeface="Wingdings" panose="05000000000000000000" charset="0"/>
              <a:buChar char="q"/>
            </a:pPr>
            <a:r>
              <a:rPr lang="en-US" sz="2400" dirty="0">
                <a:solidFill>
                  <a:schemeClr val="tx1"/>
                </a:solidFill>
                <a:latin typeface="Cambria" panose="02040503050406030204" charset="0"/>
                <a:cs typeface="Cambria" panose="02040503050406030204" charset="0"/>
              </a:rPr>
              <a:t>Technical Issues</a:t>
            </a:r>
          </a:p>
          <a:p>
            <a:pPr algn="just">
              <a:buClr>
                <a:srgbClr val="000000"/>
              </a:buClr>
              <a:buFont typeface="Wingdings" panose="05000000000000000000" charset="0"/>
              <a:buChar char="q"/>
            </a:pPr>
            <a:endParaRPr lang="en-IN" sz="2400" dirty="0">
              <a:solidFill>
                <a:schemeClr val="tx1"/>
              </a:solidFill>
              <a:latin typeface="Cambria" panose="02040503050406030204" charset="0"/>
              <a:cs typeface="Cambria" panose="02040503050406030204" charset="0"/>
            </a:endParaRPr>
          </a:p>
          <a:p>
            <a:pPr marL="0" indent="0" algn="just">
              <a:buClr>
                <a:srgbClr val="000000"/>
              </a:buClr>
              <a:buNone/>
            </a:pPr>
            <a:endParaRPr lang="en-IN" sz="2400" dirty="0">
              <a:solidFill>
                <a:schemeClr val="tx1"/>
              </a:solidFill>
              <a:latin typeface="Cambria" panose="02040503050406030204" charset="0"/>
              <a:cs typeface="Cambria" panose="02040503050406030204" charset="0"/>
            </a:endParaRPr>
          </a:p>
          <a:p>
            <a:endParaRPr lang="en-IN" sz="2400" dirty="0">
              <a:solidFill>
                <a:schemeClr val="tx1"/>
              </a:solidFill>
              <a:latin typeface="Cambria" panose="02040503050406030204" charset="0"/>
              <a:cs typeface="Cambria" panose="02040503050406030204" charset="0"/>
            </a:endParaRPr>
          </a:p>
        </p:txBody>
      </p:sp>
      <p:pic>
        <p:nvPicPr>
          <p:cNvPr id="9"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u="sng" dirty="0"/>
              <a:t>Proposed system:</a:t>
            </a:r>
            <a:endParaRPr lang="en-IN" b="1" dirty="0"/>
          </a:p>
        </p:txBody>
      </p:sp>
      <p:sp>
        <p:nvSpPr>
          <p:cNvPr id="3" name="Content Placeholder 2"/>
          <p:cNvSpPr>
            <a:spLocks noGrp="1"/>
          </p:cNvSpPr>
          <p:nvPr>
            <p:ph idx="1"/>
          </p:nvPr>
        </p:nvSpPr>
        <p:spPr/>
        <p:txBody>
          <a:bodyPr>
            <a:normAutofit lnSpcReduction="10000"/>
          </a:bodyPr>
          <a:lstStyle/>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The proposed system of Government scheme android application there are basically two modules mainly Admin module and User module. </a:t>
            </a:r>
          </a:p>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Admin have rights to add government policies in application under different categories. </a:t>
            </a:r>
          </a:p>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In user module user can access information of different government policies under different categories in PDF format.</a:t>
            </a:r>
          </a:p>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Proposed system is a software application which avoids more manual hours that need to spend in record keeping and generating reports. </a:t>
            </a:r>
          </a:p>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This application keeps the data in a centralized way which is available to all the users simultaneously.</a:t>
            </a:r>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u="sng" dirty="0"/>
              <a:t>Block Diagram:</a:t>
            </a:r>
            <a:endParaRPr lang="en-IN" b="1" dirty="0"/>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2.jpeg">
            <a:extLst>
              <a:ext uri="{FF2B5EF4-FFF2-40B4-BE49-F238E27FC236}">
                <a16:creationId xmlns:a16="http://schemas.microsoft.com/office/drawing/2014/main" id="{5B6C7D75-4FAC-05A3-EED8-4D24EB5525E0}"/>
              </a:ext>
            </a:extLst>
          </p:cNvPr>
          <p:cNvPicPr>
            <a:picLocks noChangeAspect="1"/>
          </p:cNvPicPr>
          <p:nvPr/>
        </p:nvPicPr>
        <p:blipFill>
          <a:blip r:embed="rId3" cstate="print"/>
          <a:stretch>
            <a:fillRect/>
          </a:stretch>
        </p:blipFill>
        <p:spPr>
          <a:xfrm>
            <a:off x="3432175" y="1898351"/>
            <a:ext cx="5998207" cy="4474740"/>
          </a:xfrm>
          <a:prstGeom prst="rect">
            <a:avLst/>
          </a:prstGeom>
        </p:spPr>
      </p:pic>
      <p:sp>
        <p:nvSpPr>
          <p:cNvPr id="8" name="Rectangle 7">
            <a:extLst>
              <a:ext uri="{FF2B5EF4-FFF2-40B4-BE49-F238E27FC236}">
                <a16:creationId xmlns:a16="http://schemas.microsoft.com/office/drawing/2014/main" id="{C75DF51F-0A4F-F2FE-5EB0-B565ECE0F157}"/>
              </a:ext>
            </a:extLst>
          </p:cNvPr>
          <p:cNvSpPr/>
          <p:nvPr/>
        </p:nvSpPr>
        <p:spPr>
          <a:xfrm>
            <a:off x="3461657" y="2910421"/>
            <a:ext cx="793102" cy="555166"/>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USER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400" y="702156"/>
            <a:ext cx="9680408" cy="1013800"/>
          </a:xfrm>
        </p:spPr>
        <p:txBody>
          <a:bodyPr/>
          <a:lstStyle/>
          <a:p>
            <a:r>
              <a:rPr lang="en-US" dirty="0">
                <a:ln w="9525" cmpd="sng">
                  <a:solidFill>
                    <a:sysClr val="windowText" lastClr="000000"/>
                  </a:solidFill>
                  <a:prstDash val="solid"/>
                </a:ln>
                <a:solidFill>
                  <a:srgbClr val="70AD47">
                    <a:tint val="1000"/>
                  </a:srgbClr>
                </a:solidFill>
                <a:effectLst>
                  <a:glow rad="38100">
                    <a:schemeClr val="accent1">
                      <a:alpha val="40000"/>
                    </a:schemeClr>
                  </a:glow>
                </a:effectLst>
                <a:latin typeface="Impact" panose="020B0806030902050204" charset="0"/>
                <a:cs typeface="Impact" panose="020B0806030902050204" charset="0"/>
              </a:rPr>
              <a:t> Data Flow Diagram:-    </a:t>
            </a:r>
            <a:br>
              <a:rPr lang="en-US" dirty="0">
                <a:ln w="9525" cmpd="sng">
                  <a:solidFill>
                    <a:sysClr val="windowText" lastClr="000000"/>
                  </a:solidFill>
                  <a:prstDash val="solid"/>
                </a:ln>
                <a:solidFill>
                  <a:srgbClr val="70AD47">
                    <a:tint val="1000"/>
                  </a:srgbClr>
                </a:solidFill>
                <a:effectLst>
                  <a:glow rad="38100">
                    <a:schemeClr val="accent1">
                      <a:alpha val="40000"/>
                    </a:schemeClr>
                  </a:glow>
                </a:effectLst>
                <a:latin typeface="Impact" panose="020B0806030902050204" charset="0"/>
                <a:cs typeface="Impact" panose="020B0806030902050204" charset="0"/>
              </a:rPr>
            </a:br>
            <a:r>
              <a:rPr lang="en-US" dirty="0">
                <a:ln w="9525" cmpd="sng">
                  <a:solidFill>
                    <a:sysClr val="windowText" lastClr="000000"/>
                  </a:solidFill>
                  <a:prstDash val="solid"/>
                </a:ln>
                <a:solidFill>
                  <a:srgbClr val="70AD47">
                    <a:tint val="1000"/>
                  </a:srgbClr>
                </a:solidFill>
                <a:effectLst>
                  <a:glow rad="38100">
                    <a:schemeClr val="accent1">
                      <a:alpha val="40000"/>
                    </a:schemeClr>
                  </a:glow>
                </a:effectLst>
                <a:latin typeface="Impact" panose="020B0806030902050204" charset="0"/>
                <a:cs typeface="Impact" panose="020B0806030902050204" charset="0"/>
              </a:rPr>
              <a:t>  </a:t>
            </a:r>
            <a:r>
              <a:rPr lang="en-US" dirty="0">
                <a:ln w="9525" cmpd="sng">
                  <a:solidFill>
                    <a:sysClr val="windowText" lastClr="000000"/>
                  </a:solidFill>
                  <a:prstDash val="solid"/>
                </a:ln>
                <a:solidFill>
                  <a:srgbClr val="70AD47">
                    <a:tint val="1000"/>
                  </a:srgbClr>
                </a:solidFill>
                <a:effectLst>
                  <a:glow rad="38100">
                    <a:schemeClr val="accent1">
                      <a:alpha val="40000"/>
                    </a:schemeClr>
                  </a:glow>
                </a:effectLst>
                <a:latin typeface="Impact" panose="020B0806030902050204" charset="0"/>
                <a:cs typeface="Impact" panose="020B0806030902050204" charset="0"/>
                <a:sym typeface="+mn-ea"/>
              </a:rPr>
              <a:t>DFD – level 0 </a:t>
            </a:r>
            <a:r>
              <a:rPr lang="en-US" b="1" u="sng" dirty="0"/>
              <a:t>:</a:t>
            </a:r>
            <a:endParaRPr lang="en-IN" b="1" dirty="0"/>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a:xfrm>
            <a:off x="581192" y="6502400"/>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35709" y="6500268"/>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3.jpeg">
            <a:extLst>
              <a:ext uri="{FF2B5EF4-FFF2-40B4-BE49-F238E27FC236}">
                <a16:creationId xmlns:a16="http://schemas.microsoft.com/office/drawing/2014/main" id="{97E4CFDD-EE9D-2F1F-45B6-2CE25034C3A4}"/>
              </a:ext>
            </a:extLst>
          </p:cNvPr>
          <p:cNvPicPr>
            <a:picLocks noChangeAspect="1"/>
          </p:cNvPicPr>
          <p:nvPr/>
        </p:nvPicPr>
        <p:blipFill>
          <a:blip r:embed="rId3" cstate="print"/>
          <a:stretch>
            <a:fillRect/>
          </a:stretch>
        </p:blipFill>
        <p:spPr>
          <a:xfrm>
            <a:off x="3981385" y="1897288"/>
            <a:ext cx="6709472" cy="44216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400" y="702156"/>
            <a:ext cx="9680408" cy="1013800"/>
          </a:xfrm>
        </p:spPr>
        <p:txBody>
          <a:bodyPr/>
          <a:lstStyle/>
          <a:p>
            <a:r>
              <a:rPr lang="en-US" dirty="0">
                <a:ln w="9525" cmpd="sng">
                  <a:solidFill>
                    <a:sysClr val="windowText" lastClr="000000"/>
                  </a:solidFill>
                  <a:prstDash val="solid"/>
                </a:ln>
                <a:solidFill>
                  <a:srgbClr val="70AD47">
                    <a:tint val="1000"/>
                  </a:srgbClr>
                </a:solidFill>
                <a:effectLst>
                  <a:glow rad="38100">
                    <a:schemeClr val="accent1">
                      <a:alpha val="40000"/>
                    </a:schemeClr>
                  </a:glow>
                </a:effectLst>
                <a:latin typeface="Impact" panose="020B0806030902050204" charset="0"/>
                <a:cs typeface="Impact" panose="020B0806030902050204" charset="0"/>
              </a:rPr>
              <a:t> Data Flow Diagram:-    </a:t>
            </a:r>
            <a:br>
              <a:rPr lang="en-US" dirty="0">
                <a:ln w="9525" cmpd="sng">
                  <a:solidFill>
                    <a:sysClr val="windowText" lastClr="000000"/>
                  </a:solidFill>
                  <a:prstDash val="solid"/>
                </a:ln>
                <a:solidFill>
                  <a:srgbClr val="70AD47">
                    <a:tint val="1000"/>
                  </a:srgbClr>
                </a:solidFill>
                <a:effectLst>
                  <a:glow rad="38100">
                    <a:schemeClr val="accent1">
                      <a:alpha val="40000"/>
                    </a:schemeClr>
                  </a:glow>
                </a:effectLst>
                <a:latin typeface="Impact" panose="020B0806030902050204" charset="0"/>
                <a:cs typeface="Impact" panose="020B0806030902050204" charset="0"/>
              </a:rPr>
            </a:br>
            <a:r>
              <a:rPr lang="en-US" dirty="0">
                <a:ln w="9525" cmpd="sng">
                  <a:solidFill>
                    <a:sysClr val="windowText" lastClr="000000"/>
                  </a:solidFill>
                  <a:prstDash val="solid"/>
                </a:ln>
                <a:solidFill>
                  <a:srgbClr val="70AD47">
                    <a:tint val="1000"/>
                  </a:srgbClr>
                </a:solidFill>
                <a:effectLst>
                  <a:glow rad="38100">
                    <a:schemeClr val="accent1">
                      <a:alpha val="40000"/>
                    </a:schemeClr>
                  </a:glow>
                </a:effectLst>
                <a:latin typeface="Impact" panose="020B0806030902050204" charset="0"/>
                <a:cs typeface="Impact" panose="020B0806030902050204" charset="0"/>
              </a:rPr>
              <a:t>  </a:t>
            </a:r>
            <a:r>
              <a:rPr lang="en-US" dirty="0">
                <a:ln w="9525" cmpd="sng">
                  <a:solidFill>
                    <a:sysClr val="windowText" lastClr="000000"/>
                  </a:solidFill>
                  <a:prstDash val="solid"/>
                </a:ln>
                <a:solidFill>
                  <a:srgbClr val="70AD47">
                    <a:tint val="1000"/>
                  </a:srgbClr>
                </a:solidFill>
                <a:effectLst>
                  <a:glow rad="38100">
                    <a:schemeClr val="accent1">
                      <a:alpha val="40000"/>
                    </a:schemeClr>
                  </a:glow>
                </a:effectLst>
                <a:latin typeface="Impact" panose="020B0806030902050204" charset="0"/>
                <a:cs typeface="Impact" panose="020B0806030902050204" charset="0"/>
                <a:sym typeface="+mn-ea"/>
              </a:rPr>
              <a:t>DFD – level 1 </a:t>
            </a:r>
            <a:r>
              <a:rPr lang="en-US" b="1" u="sng" dirty="0"/>
              <a:t>:</a:t>
            </a:r>
            <a:endParaRPr lang="en-IN" b="1" dirty="0"/>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a:xfrm>
            <a:off x="581192" y="6502400"/>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35709" y="6500268"/>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4.jpeg">
            <a:extLst>
              <a:ext uri="{FF2B5EF4-FFF2-40B4-BE49-F238E27FC236}">
                <a16:creationId xmlns:a16="http://schemas.microsoft.com/office/drawing/2014/main" id="{0D1C3069-D94D-6E10-8E77-746103EEF7C1}"/>
              </a:ext>
            </a:extLst>
          </p:cNvPr>
          <p:cNvPicPr>
            <a:picLocks noChangeAspect="1"/>
          </p:cNvPicPr>
          <p:nvPr/>
        </p:nvPicPr>
        <p:blipFill>
          <a:blip r:embed="rId3" cstate="print"/>
          <a:stretch>
            <a:fillRect/>
          </a:stretch>
        </p:blipFill>
        <p:spPr>
          <a:xfrm>
            <a:off x="3819613" y="1894211"/>
            <a:ext cx="6434730" cy="4465669"/>
          </a:xfrm>
          <a:prstGeom prst="rect">
            <a:avLst/>
          </a:prstGeom>
        </p:spPr>
      </p:pic>
    </p:spTree>
    <p:extLst>
      <p:ext uri="{BB962C8B-B14F-4D97-AF65-F5344CB8AC3E}">
        <p14:creationId xmlns:p14="http://schemas.microsoft.com/office/powerpoint/2010/main" val="459003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400" y="702156"/>
            <a:ext cx="9680408" cy="1013800"/>
          </a:xfrm>
        </p:spPr>
        <p:txBody>
          <a:bodyPr/>
          <a:lstStyle/>
          <a:p>
            <a:r>
              <a:rPr lang="en-US" dirty="0">
                <a:ln w="9525" cmpd="sng">
                  <a:solidFill>
                    <a:sysClr val="windowText" lastClr="000000"/>
                  </a:solidFill>
                  <a:prstDash val="solid"/>
                </a:ln>
                <a:solidFill>
                  <a:srgbClr val="70AD47">
                    <a:tint val="1000"/>
                  </a:srgbClr>
                </a:solidFill>
                <a:effectLst>
                  <a:glow rad="38100">
                    <a:schemeClr val="accent1">
                      <a:alpha val="40000"/>
                    </a:schemeClr>
                  </a:glow>
                </a:effectLst>
                <a:latin typeface="Impact" panose="020B0806030902050204" charset="0"/>
                <a:cs typeface="Impact" panose="020B0806030902050204" charset="0"/>
              </a:rPr>
              <a:t>WHAT WE DID SO FAR:-    </a:t>
            </a:r>
            <a:endParaRPr lang="en-IN" b="1" dirty="0"/>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a:xfrm>
            <a:off x="581192" y="6502400"/>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35709" y="6500268"/>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11B092A-9725-9F95-5068-B4044F89A8B3}"/>
              </a:ext>
            </a:extLst>
          </p:cNvPr>
          <p:cNvSpPr txBox="1"/>
          <p:nvPr/>
        </p:nvSpPr>
        <p:spPr>
          <a:xfrm>
            <a:off x="419878" y="2099437"/>
            <a:ext cx="11308702" cy="5561010"/>
          </a:xfrm>
          <a:prstGeom prst="rect">
            <a:avLst/>
          </a:prstGeom>
          <a:noFill/>
        </p:spPr>
        <p:txBody>
          <a:bodyPr wrap="square">
            <a:spAutoFit/>
          </a:bodyPr>
          <a:lstStyle/>
          <a:p>
            <a:pPr marL="352425" indent="-285750" algn="just">
              <a:lnSpc>
                <a:spcPct val="98000"/>
              </a:lnSpc>
              <a:spcAft>
                <a:spcPts val="715"/>
              </a:spcAft>
              <a:buFont typeface="Arial" panose="020B0604020202020204" pitchFamily="34" charset="0"/>
              <a:buChar char="•"/>
            </a:pPr>
            <a:r>
              <a:rPr lang="en-IN" sz="2000" dirty="0">
                <a:effectLst/>
              </a:rPr>
              <a:t>First there was selection of three topics on which we wanted to do presentation. They are: </a:t>
            </a:r>
          </a:p>
          <a:p>
            <a:pPr marL="66675" algn="just">
              <a:lnSpc>
                <a:spcPct val="98000"/>
              </a:lnSpc>
              <a:spcAft>
                <a:spcPts val="715"/>
              </a:spcAft>
            </a:pPr>
            <a:r>
              <a:rPr lang="en-IN" sz="2000" dirty="0">
                <a:effectLst/>
              </a:rPr>
              <a:t>Food and cloths donation website, Online voting System, Government Schemes- Sarkari Yojana Android App</a:t>
            </a:r>
          </a:p>
          <a:p>
            <a:pPr marL="352425" indent="-285750" algn="just">
              <a:lnSpc>
                <a:spcPct val="98000"/>
              </a:lnSpc>
              <a:spcAft>
                <a:spcPts val="715"/>
              </a:spcAft>
              <a:buFont typeface="Arial" panose="020B0604020202020204" pitchFamily="34" charset="0"/>
              <a:buChar char="•"/>
            </a:pPr>
            <a:r>
              <a:rPr lang="en-IN" sz="2000" dirty="0"/>
              <a:t>Finalised the topic, Search on the topic &amp; and collecting the information. Studying about the existing system.</a:t>
            </a:r>
          </a:p>
          <a:p>
            <a:pPr marL="66675" algn="just">
              <a:lnSpc>
                <a:spcPct val="98000"/>
              </a:lnSpc>
              <a:spcAft>
                <a:spcPts val="715"/>
              </a:spcAft>
            </a:pPr>
            <a:r>
              <a:rPr lang="en-IN" sz="2000" dirty="0"/>
              <a:t>Then we have new ideas for that, means what are features add in our system. Working on the gathered requirements </a:t>
            </a:r>
          </a:p>
          <a:p>
            <a:pPr marL="352425" indent="-285750" algn="just">
              <a:lnSpc>
                <a:spcPct val="98000"/>
              </a:lnSpc>
              <a:spcAft>
                <a:spcPts val="715"/>
              </a:spcAft>
              <a:buFont typeface="Arial" panose="020B0604020202020204" pitchFamily="34" charset="0"/>
              <a:buChar char="•"/>
            </a:pPr>
            <a:r>
              <a:rPr lang="en-IN" sz="2000" dirty="0">
                <a:effectLst/>
              </a:rPr>
              <a:t>Submitted the abstract and </a:t>
            </a:r>
            <a:r>
              <a:rPr lang="en-IN" sz="2000" dirty="0" err="1">
                <a:effectLst/>
              </a:rPr>
              <a:t>Synopsis.Study</a:t>
            </a:r>
            <a:r>
              <a:rPr lang="en-IN" sz="2000" dirty="0">
                <a:effectLst/>
              </a:rPr>
              <a:t> about the additional requirements for the implementation of project.</a:t>
            </a:r>
          </a:p>
          <a:p>
            <a:pPr marL="353060" indent="-285750">
              <a:lnSpc>
                <a:spcPct val="107000"/>
              </a:lnSpc>
              <a:spcAft>
                <a:spcPts val="800"/>
              </a:spcAft>
              <a:buFont typeface="Arial" panose="020B0604020202020204" pitchFamily="34" charset="0"/>
              <a:buChar char="•"/>
            </a:pPr>
            <a:r>
              <a:rPr lang="en-IN" sz="2000" dirty="0">
                <a:latin typeface="+mj-lt"/>
              </a:rPr>
              <a:t>Finalizing the work flow module of the proposed system. Searching &amp; Finalizing the platform and all relevant information for the proposed system  Gathering &amp; Integrating all information gathered 5</a:t>
            </a:r>
            <a:r>
              <a:rPr lang="en-IN" sz="2000" baseline="30000" dirty="0">
                <a:latin typeface="+mj-lt"/>
              </a:rPr>
              <a:t>th</a:t>
            </a:r>
            <a:r>
              <a:rPr lang="en-IN" sz="2000" dirty="0">
                <a:latin typeface="+mj-lt"/>
              </a:rPr>
              <a:t> Semester Project Report Writing . </a:t>
            </a:r>
          </a:p>
          <a:p>
            <a:pPr marL="353060" indent="-285750">
              <a:lnSpc>
                <a:spcPct val="107000"/>
              </a:lnSpc>
              <a:spcAft>
                <a:spcPts val="800"/>
              </a:spcAft>
              <a:buFont typeface="Arial" panose="020B0604020202020204" pitchFamily="34" charset="0"/>
              <a:buChar char="•"/>
            </a:pPr>
            <a:r>
              <a:rPr lang="en-IN" sz="2000" dirty="0">
                <a:solidFill>
                  <a:srgbClr val="000000"/>
                </a:solidFill>
                <a:latin typeface="+mj-lt"/>
                <a:ea typeface="Calibri" panose="020F0502020204030204" pitchFamily="34" charset="0"/>
                <a:cs typeface="Times New Roman" panose="02020603050405020304" pitchFamily="18" charset="0"/>
              </a:rPr>
              <a:t>After that, now the final presentation. </a:t>
            </a:r>
          </a:p>
          <a:p>
            <a:pPr marL="66675" algn="just">
              <a:lnSpc>
                <a:spcPct val="98000"/>
              </a:lnSpc>
              <a:spcAft>
                <a:spcPts val="715"/>
              </a:spcAft>
            </a:pPr>
            <a:endParaRPr lang="en-IN" sz="2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66675" algn="just">
              <a:lnSpc>
                <a:spcPct val="98000"/>
              </a:lnSpc>
              <a:spcAft>
                <a:spcPts val="715"/>
              </a:spcAft>
            </a:pPr>
            <a:endParaRPr lang="en-IN" sz="2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66675" algn="just">
              <a:lnSpc>
                <a:spcPct val="98000"/>
              </a:lnSpc>
              <a:spcAft>
                <a:spcPts val="715"/>
              </a:spcAft>
            </a:pPr>
            <a:endParaRPr lang="en-IN" sz="2000" dirty="0">
              <a:effectLst/>
            </a:endParaRPr>
          </a:p>
        </p:txBody>
      </p:sp>
      <p:sp>
        <p:nvSpPr>
          <p:cNvPr id="14" name="Rectangle 3">
            <a:extLst>
              <a:ext uri="{FF2B5EF4-FFF2-40B4-BE49-F238E27FC236}">
                <a16:creationId xmlns:a16="http://schemas.microsoft.com/office/drawing/2014/main" id="{4E443306-551C-89FB-10A8-D019721C1DB3}"/>
              </a:ext>
            </a:extLst>
          </p:cNvPr>
          <p:cNvSpPr>
            <a:spLocks noChangeArrowheads="1"/>
          </p:cNvSpPr>
          <p:nvPr/>
        </p:nvSpPr>
        <p:spPr bwMode="auto">
          <a:xfrm>
            <a:off x="581025" y="3622045"/>
            <a:ext cx="290464"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r>
              <a:rPr kumimoji="0" lang="en-US" altLang="en-US" sz="11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r>
              <a:rPr kumimoji="0" lang="en-US" altLang="en-US" sz="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10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F271B-CC1D-DD40-8831-F12D19359981}"/>
              </a:ext>
            </a:extLst>
          </p:cNvPr>
          <p:cNvSpPr>
            <a:spLocks noGrp="1"/>
          </p:cNvSpPr>
          <p:nvPr>
            <p:ph type="title"/>
          </p:nvPr>
        </p:nvSpPr>
        <p:spPr/>
        <p:txBody>
          <a:bodyPr/>
          <a:lstStyle/>
          <a:p>
            <a:r>
              <a:rPr lang="en-IN" dirty="0"/>
              <a:t>OUR WORK</a:t>
            </a:r>
          </a:p>
        </p:txBody>
      </p:sp>
      <p:pic>
        <p:nvPicPr>
          <p:cNvPr id="5" name="Content Placeholder 4">
            <a:extLst>
              <a:ext uri="{FF2B5EF4-FFF2-40B4-BE49-F238E27FC236}">
                <a16:creationId xmlns:a16="http://schemas.microsoft.com/office/drawing/2014/main" id="{17EB9AD2-7FD6-84EE-D748-5382A8950685}"/>
              </a:ext>
            </a:extLst>
          </p:cNvPr>
          <p:cNvPicPr>
            <a:picLocks noGrp="1" noChangeAspect="1"/>
          </p:cNvPicPr>
          <p:nvPr>
            <p:ph idx="1"/>
          </p:nvPr>
        </p:nvPicPr>
        <p:blipFill>
          <a:blip r:embed="rId2"/>
          <a:stretch>
            <a:fillRect/>
          </a:stretch>
        </p:blipFill>
        <p:spPr>
          <a:xfrm>
            <a:off x="5514393" y="1850166"/>
            <a:ext cx="2985795" cy="48747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C76D0E2F-31FF-2FAC-C40A-448CD0CB1867}"/>
              </a:ext>
            </a:extLst>
          </p:cNvPr>
          <p:cNvPicPr>
            <a:picLocks noChangeAspect="1"/>
          </p:cNvPicPr>
          <p:nvPr/>
        </p:nvPicPr>
        <p:blipFill>
          <a:blip r:embed="rId3"/>
          <a:stretch>
            <a:fillRect/>
          </a:stretch>
        </p:blipFill>
        <p:spPr>
          <a:xfrm>
            <a:off x="2076385" y="1850166"/>
            <a:ext cx="2640850" cy="50078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20086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205" y="683895"/>
            <a:ext cx="11029315" cy="648970"/>
          </a:xfrm>
        </p:spPr>
        <p:txBody>
          <a:bodyPr/>
          <a:lstStyle/>
          <a:p>
            <a:r>
              <a:rPr lang="en-US" dirty="0"/>
              <a:t>				</a:t>
            </a:r>
            <a:r>
              <a:rPr lang="en-US" b="1" u="sng" dirty="0"/>
              <a:t>Requirement Analysis:</a:t>
            </a:r>
            <a:endParaRPr lang="en-IN" b="1"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029004156"/>
              </p:ext>
            </p:extLst>
          </p:nvPr>
        </p:nvGraphicFramePr>
        <p:xfrm>
          <a:off x="508635" y="1887220"/>
          <a:ext cx="11175365" cy="4226560"/>
        </p:xfrm>
        <a:graphic>
          <a:graphicData uri="http://schemas.openxmlformats.org/drawingml/2006/table">
            <a:tbl>
              <a:tblPr firstRow="1" firstCol="1" lastRow="1" lastCol="1" bandRow="1" bandCol="1">
                <a:tableStyleId>{616DA210-FB5B-4158-B5E0-FEB733F419BA}</a:tableStyleId>
              </a:tblPr>
              <a:tblGrid>
                <a:gridCol w="3827145">
                  <a:extLst>
                    <a:ext uri="{9D8B030D-6E8A-4147-A177-3AD203B41FA5}">
                      <a16:colId xmlns:a16="http://schemas.microsoft.com/office/drawing/2014/main" val="20000"/>
                    </a:ext>
                  </a:extLst>
                </a:gridCol>
                <a:gridCol w="3768090">
                  <a:extLst>
                    <a:ext uri="{9D8B030D-6E8A-4147-A177-3AD203B41FA5}">
                      <a16:colId xmlns:a16="http://schemas.microsoft.com/office/drawing/2014/main" val="20001"/>
                    </a:ext>
                  </a:extLst>
                </a:gridCol>
                <a:gridCol w="3580130">
                  <a:extLst>
                    <a:ext uri="{9D8B030D-6E8A-4147-A177-3AD203B41FA5}">
                      <a16:colId xmlns:a16="http://schemas.microsoft.com/office/drawing/2014/main" val="20002"/>
                    </a:ext>
                  </a:extLst>
                </a:gridCol>
              </a:tblGrid>
              <a:tr h="660400">
                <a:tc>
                  <a:txBody>
                    <a:bodyPr/>
                    <a:lstStyle/>
                    <a:p>
                      <a:pPr marL="239395" marR="368935" algn="ctr">
                        <a:lnSpc>
                          <a:spcPct val="100000"/>
                        </a:lnSpc>
                        <a:spcAft>
                          <a:spcPts val="0"/>
                        </a:spcAft>
                      </a:pPr>
                      <a:r>
                        <a:rPr lang="en-US" sz="2000" dirty="0">
                          <a:effectLst/>
                          <a:latin typeface="Cambria" panose="02040503050406030204" charset="0"/>
                          <a:cs typeface="Cambria" panose="02040503050406030204" charset="0"/>
                        </a:rPr>
                        <a:t>Hardware Requirements</a:t>
                      </a:r>
                    </a:p>
                  </a:txBody>
                  <a:tcPr marL="0" marR="0" marT="0" marB="0">
                    <a:lnL w="28575">
                      <a:solidFill>
                        <a:schemeClr val="tx1"/>
                      </a:solidFill>
                      <a:prstDash val="solid"/>
                    </a:lnL>
                    <a:lnR w="28575">
                      <a:solidFill>
                        <a:schemeClr val="tx1"/>
                      </a:solidFill>
                      <a:prstDash val="solid"/>
                    </a:lnR>
                    <a:lnT w="28575">
                      <a:solidFill>
                        <a:schemeClr val="tx1"/>
                      </a:solidFill>
                      <a:prstDash val="solid"/>
                    </a:lnT>
                    <a:lnB w="28575">
                      <a:solidFill>
                        <a:schemeClr val="tx1"/>
                      </a:solidFill>
                      <a:prstDash val="solid"/>
                    </a:lnB>
                  </a:tcPr>
                </a:tc>
                <a:tc>
                  <a:txBody>
                    <a:bodyPr/>
                    <a:lstStyle/>
                    <a:p>
                      <a:pPr marL="167005" algn="ctr">
                        <a:lnSpc>
                          <a:spcPct val="100000"/>
                        </a:lnSpc>
                      </a:pPr>
                      <a:r>
                        <a:rPr lang="en-US" altLang="en-IN" sz="2000">
                          <a:effectLst/>
                          <a:latin typeface="Cambria" panose="02040503050406030204" charset="0"/>
                          <a:cs typeface="Cambria" panose="02040503050406030204" charset="0"/>
                        </a:rPr>
                        <a:t>Software </a:t>
                      </a:r>
                      <a:r>
                        <a:rPr lang="en-IN" sz="2000">
                          <a:effectLst/>
                          <a:latin typeface="Cambria" panose="02040503050406030204" charset="0"/>
                          <a:cs typeface="Cambria" panose="02040503050406030204" charset="0"/>
                        </a:rPr>
                        <a:t> Requirements</a:t>
                      </a:r>
                    </a:p>
                  </a:txBody>
                  <a:tcPr marL="0" marR="0" marT="0" marB="0">
                    <a:lnL w="28575">
                      <a:solidFill>
                        <a:schemeClr val="tx1"/>
                      </a:solidFill>
                      <a:prstDash val="solid"/>
                    </a:lnL>
                    <a:lnR w="28575">
                      <a:solidFill>
                        <a:schemeClr val="tx1"/>
                      </a:solidFill>
                      <a:prstDash val="solid"/>
                    </a:lnR>
                    <a:lnT w="28575">
                      <a:solidFill>
                        <a:schemeClr val="tx1"/>
                      </a:solidFill>
                      <a:prstDash val="solid"/>
                    </a:lnT>
                    <a:lnB w="28575">
                      <a:solidFill>
                        <a:schemeClr val="tx1"/>
                      </a:solidFill>
                      <a:prstDash val="solid"/>
                    </a:lnB>
                  </a:tcPr>
                </a:tc>
                <a:tc>
                  <a:txBody>
                    <a:bodyPr/>
                    <a:lstStyle/>
                    <a:p>
                      <a:pPr marL="57150" marR="370205" algn="ctr">
                        <a:lnSpc>
                          <a:spcPct val="100000"/>
                        </a:lnSpc>
                        <a:spcAft>
                          <a:spcPts val="0"/>
                        </a:spcAft>
                      </a:pPr>
                      <a:r>
                        <a:rPr lang="en-US" sz="2000">
                          <a:effectLst/>
                          <a:latin typeface="Cambria" panose="02040503050406030204" charset="0"/>
                          <a:cs typeface="Cambria" panose="02040503050406030204" charset="0"/>
                        </a:rPr>
                        <a:t>Connectivity Requirements</a:t>
                      </a:r>
                    </a:p>
                  </a:txBody>
                  <a:tcPr marL="0" marR="0" marT="0" marB="0">
                    <a:lnL w="28575">
                      <a:solidFill>
                        <a:schemeClr val="tx1"/>
                      </a:solidFill>
                      <a:prstDash val="solid"/>
                    </a:lnL>
                    <a:lnR w="28575">
                      <a:solidFill>
                        <a:schemeClr val="tx1"/>
                      </a:solidFill>
                      <a:prstDash val="solid"/>
                    </a:lnR>
                    <a:lnT w="28575">
                      <a:solidFill>
                        <a:schemeClr val="tx1"/>
                      </a:solidFill>
                      <a:prstDash val="solid"/>
                    </a:lnT>
                    <a:lnB w="28575">
                      <a:solidFill>
                        <a:schemeClr val="tx1"/>
                      </a:solidFill>
                      <a:prstDash val="solid"/>
                    </a:lnB>
                  </a:tcPr>
                </a:tc>
                <a:extLst>
                  <a:ext uri="{0D108BD9-81ED-4DB2-BD59-A6C34878D82A}">
                    <a16:rowId xmlns:a16="http://schemas.microsoft.com/office/drawing/2014/main" val="10000"/>
                  </a:ext>
                </a:extLst>
              </a:tr>
              <a:tr h="1610995">
                <a:tc>
                  <a:txBody>
                    <a:bodyPr/>
                    <a:lstStyle/>
                    <a:p>
                      <a:pPr marL="239395">
                        <a:lnSpc>
                          <a:spcPct val="100000"/>
                        </a:lnSpc>
                      </a:pPr>
                      <a:r>
                        <a:rPr lang="en-IN" sz="1800" dirty="0">
                          <a:effectLst/>
                          <a:latin typeface="Cambria" panose="02040503050406030204" charset="0"/>
                          <a:cs typeface="Cambria" panose="02040503050406030204" charset="0"/>
                        </a:rPr>
                        <a:t>Device:</a:t>
                      </a:r>
                    </a:p>
                    <a:p>
                      <a:pPr marL="239395">
                        <a:lnSpc>
                          <a:spcPct val="100000"/>
                        </a:lnSpc>
                      </a:pPr>
                      <a:r>
                        <a:rPr lang="en-IN" sz="1800" dirty="0">
                          <a:effectLst/>
                          <a:latin typeface="Cambria" panose="02040503050406030204" charset="0"/>
                          <a:cs typeface="Cambria" panose="02040503050406030204" charset="0"/>
                        </a:rPr>
                        <a:t>Desktop Computer, Laptop, Tablet, or Smartphone.</a:t>
                      </a:r>
                    </a:p>
                    <a:p>
                      <a:pPr marL="239395">
                        <a:lnSpc>
                          <a:spcPct val="100000"/>
                        </a:lnSpc>
                      </a:pPr>
                      <a:endParaRPr lang="en-IN" sz="1800" dirty="0">
                        <a:effectLst/>
                        <a:latin typeface="Cambria" panose="02040503050406030204" charset="0"/>
                        <a:cs typeface="Cambria" panose="02040503050406030204" charset="0"/>
                      </a:endParaRPr>
                    </a:p>
                  </a:txBody>
                  <a:tcPr marL="0" marR="0" marT="0" marB="0">
                    <a:lnL w="28575">
                      <a:solidFill>
                        <a:schemeClr val="tx1"/>
                      </a:solidFill>
                      <a:prstDash val="solid"/>
                    </a:lnL>
                    <a:lnR w="28575">
                      <a:solidFill>
                        <a:schemeClr val="tx1"/>
                      </a:solidFill>
                      <a:prstDash val="solid"/>
                    </a:lnR>
                    <a:lnT w="28575">
                      <a:solidFill>
                        <a:schemeClr val="tx1"/>
                      </a:solidFill>
                      <a:prstDash val="solid"/>
                    </a:lnT>
                    <a:lnB w="28575">
                      <a:solidFill>
                        <a:schemeClr val="tx1"/>
                      </a:solidFill>
                      <a:prstDash val="solid"/>
                    </a:lnB>
                  </a:tcPr>
                </a:tc>
                <a:tc>
                  <a:txBody>
                    <a:bodyPr/>
                    <a:lstStyle/>
                    <a:p>
                      <a:pPr marL="914400" marR="0" lvl="1" indent="-457200" algn="just" defTabSz="457200" rtl="0" eaLnBrk="1" fontAlgn="auto" latinLnBrk="0" hangingPunct="1">
                        <a:lnSpc>
                          <a:spcPct val="110000"/>
                        </a:lnSpc>
                        <a:spcBef>
                          <a:spcPts val="0"/>
                        </a:spcBef>
                        <a:spcAft>
                          <a:spcPts val="0"/>
                        </a:spcAft>
                        <a:buClr>
                          <a:schemeClr val="dk1"/>
                        </a:buClr>
                        <a:buSzPts val="2080"/>
                        <a:buFont typeface="Times New Roman" panose="02020603050405020304"/>
                        <a:buAutoNum type="arabicPeriod"/>
                        <a:tabLst/>
                        <a:defRPr/>
                      </a:pPr>
                      <a:r>
                        <a:rPr lang="en-US" dirty="0">
                          <a:solidFill>
                            <a:schemeClr val="dk1"/>
                          </a:solidFill>
                          <a:latin typeface="Cambria" panose="02040503050406030204" charset="0"/>
                          <a:cs typeface="Cambria" panose="02040503050406030204" charset="0"/>
                        </a:rPr>
                        <a:t>Operating System: Windows 7</a:t>
                      </a:r>
                    </a:p>
                    <a:p>
                      <a:pPr marL="914400" lvl="1" indent="-457200" algn="just" rtl="0">
                        <a:lnSpc>
                          <a:spcPct val="110000"/>
                        </a:lnSpc>
                        <a:spcBef>
                          <a:spcPts val="0"/>
                        </a:spcBef>
                        <a:spcAft>
                          <a:spcPts val="0"/>
                        </a:spcAft>
                        <a:buClr>
                          <a:schemeClr val="dk1"/>
                        </a:buClr>
                        <a:buSzPts val="2080"/>
                        <a:buFont typeface="Times New Roman" panose="02020603050405020304"/>
                        <a:buAutoNum type="arabicPeriod"/>
                      </a:pPr>
                      <a:r>
                        <a:rPr lang="en-US" dirty="0">
                          <a:solidFill>
                            <a:schemeClr val="dk1"/>
                          </a:solidFill>
                          <a:latin typeface="Cambria" panose="02040503050406030204" charset="0"/>
                          <a:cs typeface="Cambria" panose="02040503050406030204" charset="0"/>
                        </a:rPr>
                        <a:t>Front End:  Android Studio</a:t>
                      </a:r>
                    </a:p>
                    <a:p>
                      <a:pPr marL="914400" lvl="1" indent="-457200" algn="just" rtl="0">
                        <a:lnSpc>
                          <a:spcPct val="110000"/>
                        </a:lnSpc>
                        <a:spcBef>
                          <a:spcPts val="0"/>
                        </a:spcBef>
                        <a:spcAft>
                          <a:spcPts val="0"/>
                        </a:spcAft>
                        <a:buClr>
                          <a:schemeClr val="dk1"/>
                        </a:buClr>
                        <a:buSzPts val="2080"/>
                        <a:buFont typeface="Times New Roman" panose="02020603050405020304"/>
                        <a:buAutoNum type="arabicPeriod"/>
                      </a:pPr>
                      <a:r>
                        <a:rPr lang="en-US" dirty="0">
                          <a:solidFill>
                            <a:schemeClr val="dk1"/>
                          </a:solidFill>
                          <a:latin typeface="Cambria" panose="02040503050406030204" charset="0"/>
                          <a:cs typeface="Cambria" panose="02040503050406030204" charset="0"/>
                        </a:rPr>
                        <a:t>Back End: Fire base.</a:t>
                      </a:r>
                    </a:p>
                    <a:p>
                      <a:pPr marL="452755" marR="454660" indent="-285750">
                        <a:lnSpc>
                          <a:spcPct val="100000"/>
                        </a:lnSpc>
                        <a:spcAft>
                          <a:spcPts val="0"/>
                        </a:spcAft>
                        <a:buFont typeface="Arial" panose="020B0604020202020204" pitchFamily="34" charset="0"/>
                        <a:buChar char="•"/>
                      </a:pPr>
                      <a:endParaRPr lang="en-IN" sz="1800" dirty="0">
                        <a:effectLst/>
                        <a:latin typeface="Cambria" panose="02040503050406030204" charset="0"/>
                        <a:cs typeface="Cambria" panose="02040503050406030204" charset="0"/>
                      </a:endParaRPr>
                    </a:p>
                  </a:txBody>
                  <a:tcPr marL="0" marR="0" marT="0" marB="0">
                    <a:lnL w="28575">
                      <a:solidFill>
                        <a:schemeClr val="tx1"/>
                      </a:solidFill>
                      <a:prstDash val="solid"/>
                    </a:lnL>
                    <a:lnR w="28575">
                      <a:solidFill>
                        <a:schemeClr val="tx1"/>
                      </a:solidFill>
                      <a:prstDash val="solid"/>
                    </a:lnR>
                    <a:lnT w="28575">
                      <a:solidFill>
                        <a:schemeClr val="tx1"/>
                      </a:solidFill>
                      <a:prstDash val="solid"/>
                    </a:lnT>
                    <a:lnB w="28575">
                      <a:solidFill>
                        <a:schemeClr val="tx1"/>
                      </a:solidFill>
                      <a:prstDash val="solid"/>
                    </a:lnB>
                  </a:tcPr>
                </a:tc>
                <a:tc>
                  <a:txBody>
                    <a:bodyPr/>
                    <a:lstStyle/>
                    <a:p>
                      <a:pPr marL="57150" marR="501015">
                        <a:lnSpc>
                          <a:spcPct val="100000"/>
                        </a:lnSpc>
                        <a:spcAft>
                          <a:spcPts val="0"/>
                        </a:spcAft>
                      </a:pPr>
                      <a:r>
                        <a:rPr lang="en-IN" sz="1800" dirty="0">
                          <a:effectLst/>
                          <a:latin typeface="Cambria" panose="02040503050406030204" charset="0"/>
                          <a:cs typeface="Cambria" panose="02040503050406030204" charset="0"/>
                        </a:rPr>
                        <a:t>Internet Connection:</a:t>
                      </a:r>
                    </a:p>
                    <a:p>
                      <a:pPr marL="57150" marR="501015">
                        <a:lnSpc>
                          <a:spcPct val="100000"/>
                        </a:lnSpc>
                        <a:spcAft>
                          <a:spcPts val="0"/>
                        </a:spcAft>
                      </a:pPr>
                      <a:r>
                        <a:rPr lang="en-US" altLang="en-IN" sz="1800" dirty="0">
                          <a:effectLst/>
                          <a:latin typeface="Cambria" panose="02040503050406030204" charset="0"/>
                          <a:cs typeface="Cambria" panose="02040503050406030204" charset="0"/>
                        </a:rPr>
                        <a:t>    </a:t>
                      </a:r>
                      <a:r>
                        <a:rPr lang="en-IN" sz="1800" dirty="0">
                          <a:effectLst/>
                          <a:latin typeface="Cambria" panose="02040503050406030204" charset="0"/>
                          <a:cs typeface="Cambria" panose="02040503050406030204" charset="0"/>
                        </a:rPr>
                        <a:t>Users need a reliable internet connection to access the application. While a broadband or high-speed connection is ideal</a:t>
                      </a:r>
                      <a:r>
                        <a:rPr lang="en-US" altLang="en-IN" sz="1800" dirty="0">
                          <a:effectLst/>
                          <a:latin typeface="Cambria" panose="02040503050406030204" charset="0"/>
                          <a:cs typeface="Cambria" panose="02040503050406030204" charset="0"/>
                        </a:rPr>
                        <a:t>.</a:t>
                      </a:r>
                    </a:p>
                  </a:txBody>
                  <a:tcPr marL="0" marR="0" marT="0" marB="0">
                    <a:lnL w="28575">
                      <a:solidFill>
                        <a:schemeClr val="tx1"/>
                      </a:solidFill>
                      <a:prstDash val="solid"/>
                    </a:lnL>
                    <a:lnR w="28575">
                      <a:solidFill>
                        <a:schemeClr val="tx1"/>
                      </a:solidFill>
                      <a:prstDash val="solid"/>
                    </a:lnR>
                    <a:lnT w="28575">
                      <a:solidFill>
                        <a:schemeClr val="tx1"/>
                      </a:solidFill>
                      <a:prstDash val="solid"/>
                    </a:lnT>
                    <a:lnB w="28575">
                      <a:solidFill>
                        <a:schemeClr val="tx1"/>
                      </a:solidFill>
                      <a:prstDash val="solid"/>
                    </a:lnB>
                  </a:tcPr>
                </a:tc>
                <a:extLst>
                  <a:ext uri="{0D108BD9-81ED-4DB2-BD59-A6C34878D82A}">
                    <a16:rowId xmlns:a16="http://schemas.microsoft.com/office/drawing/2014/main" val="10001"/>
                  </a:ext>
                </a:extLst>
              </a:tr>
              <a:tr h="1511935">
                <a:tc>
                  <a:txBody>
                    <a:bodyPr/>
                    <a:lstStyle/>
                    <a:p>
                      <a:pPr marL="914400" lvl="1" indent="-457200" algn="just" rtl="0">
                        <a:spcBef>
                          <a:spcPts val="0"/>
                        </a:spcBef>
                        <a:spcAft>
                          <a:spcPts val="0"/>
                        </a:spcAft>
                        <a:buClr>
                          <a:schemeClr val="dk1"/>
                        </a:buClr>
                        <a:buSzPts val="2080"/>
                        <a:buFont typeface="Times New Roman" panose="02020603050405020304"/>
                        <a:buAutoNum type="arabicPeriod"/>
                      </a:pPr>
                      <a:endParaRPr lang="en-US" dirty="0">
                        <a:solidFill>
                          <a:schemeClr val="dk1"/>
                        </a:solidFill>
                        <a:latin typeface="Cambria" panose="02040503050406030204" charset="0"/>
                        <a:cs typeface="Cambria" panose="02040503050406030204" charset="0"/>
                      </a:endParaRPr>
                    </a:p>
                    <a:p>
                      <a:pPr marL="914400" lvl="1" indent="-457200" algn="just" rtl="0">
                        <a:spcBef>
                          <a:spcPts val="0"/>
                        </a:spcBef>
                        <a:spcAft>
                          <a:spcPts val="0"/>
                        </a:spcAft>
                        <a:buClr>
                          <a:schemeClr val="dk1"/>
                        </a:buClr>
                        <a:buSzPts val="2080"/>
                        <a:buFont typeface="Times New Roman" panose="02020603050405020304"/>
                        <a:buAutoNum type="arabicPeriod"/>
                      </a:pPr>
                      <a:r>
                        <a:rPr lang="en-US" dirty="0">
                          <a:solidFill>
                            <a:schemeClr val="dk1"/>
                          </a:solidFill>
                          <a:latin typeface="Cambria" panose="02040503050406030204" charset="0"/>
                          <a:cs typeface="Cambria" panose="02040503050406030204" charset="0"/>
                        </a:rPr>
                        <a:t>Processor : Intel core i3</a:t>
                      </a:r>
                    </a:p>
                    <a:p>
                      <a:pPr marL="914400" lvl="1" indent="-457200" algn="just" rtl="0">
                        <a:spcBef>
                          <a:spcPts val="0"/>
                        </a:spcBef>
                        <a:spcAft>
                          <a:spcPts val="0"/>
                        </a:spcAft>
                        <a:buClr>
                          <a:schemeClr val="dk1"/>
                        </a:buClr>
                        <a:buSzPts val="2080"/>
                        <a:buFont typeface="Times New Roman" panose="02020603050405020304"/>
                        <a:buAutoNum type="arabicPeriod"/>
                      </a:pPr>
                      <a:r>
                        <a:rPr lang="en-US" dirty="0">
                          <a:solidFill>
                            <a:schemeClr val="dk1"/>
                          </a:solidFill>
                          <a:latin typeface="Cambria" panose="02040503050406030204" charset="0"/>
                          <a:cs typeface="Cambria" panose="02040503050406030204" charset="0"/>
                        </a:rPr>
                        <a:t>Ram: 4 GB (min)</a:t>
                      </a:r>
                    </a:p>
                    <a:p>
                      <a:pPr marL="914400" lvl="1" indent="-457200" algn="just" rtl="0">
                        <a:spcBef>
                          <a:spcPts val="0"/>
                        </a:spcBef>
                        <a:spcAft>
                          <a:spcPts val="0"/>
                        </a:spcAft>
                        <a:buClr>
                          <a:schemeClr val="dk1"/>
                        </a:buClr>
                        <a:buSzPts val="2080"/>
                        <a:buFont typeface="Times New Roman" panose="02020603050405020304"/>
                        <a:buAutoNum type="arabicPeriod"/>
                      </a:pPr>
                      <a:r>
                        <a:rPr lang="en-US" dirty="0">
                          <a:solidFill>
                            <a:schemeClr val="dk1"/>
                          </a:solidFill>
                          <a:latin typeface="Cambria" panose="02040503050406030204" charset="0"/>
                          <a:cs typeface="Cambria" panose="02040503050406030204" charset="0"/>
                        </a:rPr>
                        <a:t>Hard disk : 64GB</a:t>
                      </a:r>
                    </a:p>
                    <a:p>
                      <a:pPr marL="239395">
                        <a:lnSpc>
                          <a:spcPts val="1580"/>
                        </a:lnSpc>
                      </a:pPr>
                      <a:endParaRPr lang="en-IN" sz="1800" dirty="0">
                        <a:effectLst/>
                        <a:latin typeface="Cambria" panose="02040503050406030204" charset="0"/>
                        <a:cs typeface="Cambria" panose="02040503050406030204" charset="0"/>
                      </a:endParaRPr>
                    </a:p>
                  </a:txBody>
                  <a:tcPr marL="0" marR="0" marT="0" marB="0">
                    <a:lnL w="28575">
                      <a:solidFill>
                        <a:schemeClr val="tx1"/>
                      </a:solidFill>
                      <a:prstDash val="solid"/>
                    </a:lnL>
                    <a:lnR w="28575">
                      <a:solidFill>
                        <a:schemeClr val="tx1"/>
                      </a:solidFill>
                      <a:prstDash val="solid"/>
                    </a:lnR>
                    <a:lnT w="28575">
                      <a:solidFill>
                        <a:schemeClr val="tx1"/>
                      </a:solidFill>
                      <a:prstDash val="solid"/>
                    </a:lnT>
                    <a:lnB w="28575">
                      <a:solidFill>
                        <a:schemeClr val="tx1"/>
                      </a:solidFill>
                      <a:prstDash val="solid"/>
                    </a:lnB>
                  </a:tcPr>
                </a:tc>
                <a:tc>
                  <a:txBody>
                    <a:bodyPr/>
                    <a:lstStyle/>
                    <a:p>
                      <a:pPr marL="167005">
                        <a:lnSpc>
                          <a:spcPct val="100000"/>
                        </a:lnSpc>
                      </a:pPr>
                      <a:r>
                        <a:rPr lang="en-IN" sz="1800" dirty="0">
                          <a:effectLst/>
                          <a:latin typeface="Cambria" panose="02040503050406030204" charset="0"/>
                          <a:cs typeface="Cambria" panose="02040503050406030204" charset="0"/>
                        </a:rPr>
                        <a:t>Browser Extensions</a:t>
                      </a:r>
                      <a:r>
                        <a:rPr lang="en-US" altLang="en-IN" sz="1800" dirty="0">
                          <a:effectLst/>
                          <a:latin typeface="Cambria" panose="02040503050406030204" charset="0"/>
                          <a:cs typeface="Cambria" panose="02040503050406030204" charset="0"/>
                        </a:rPr>
                        <a:t>: </a:t>
                      </a:r>
                    </a:p>
                    <a:p>
                      <a:pPr marL="452755" indent="-285750">
                        <a:lnSpc>
                          <a:spcPct val="100000"/>
                        </a:lnSpc>
                        <a:buFont typeface="Arial" panose="020B0604020202020204" pitchFamily="34" charset="0"/>
                        <a:buChar char="•"/>
                      </a:pPr>
                      <a:r>
                        <a:rPr lang="en-US" altLang="en-IN" sz="1800" dirty="0">
                          <a:effectLst/>
                          <a:latin typeface="Cambria" panose="02040503050406030204" charset="0"/>
                          <a:cs typeface="Cambria" panose="02040503050406030204" charset="0"/>
                        </a:rPr>
                        <a:t>Users should not be required to install any specific browser extensions or plugins to access your website. Keep the website functionality self-contained within the browser.</a:t>
                      </a:r>
                    </a:p>
                  </a:txBody>
                  <a:tcPr marL="0" marR="0" marT="0" marB="0">
                    <a:lnL w="28575">
                      <a:solidFill>
                        <a:schemeClr val="tx1"/>
                      </a:solidFill>
                      <a:prstDash val="solid"/>
                    </a:lnL>
                    <a:lnR w="28575">
                      <a:solidFill>
                        <a:schemeClr val="tx1"/>
                      </a:solidFill>
                      <a:prstDash val="solid"/>
                    </a:lnR>
                    <a:lnT w="28575">
                      <a:solidFill>
                        <a:schemeClr val="tx1"/>
                      </a:solidFill>
                      <a:prstDash val="solid"/>
                    </a:lnT>
                    <a:lnB w="28575">
                      <a:solidFill>
                        <a:schemeClr val="tx1"/>
                      </a:solidFill>
                      <a:prstDash val="solid"/>
                    </a:lnB>
                  </a:tcPr>
                </a:tc>
                <a:tc>
                  <a:txBody>
                    <a:bodyPr/>
                    <a:lstStyle/>
                    <a:p>
                      <a:pPr>
                        <a:lnSpc>
                          <a:spcPct val="100000"/>
                        </a:lnSpc>
                      </a:pPr>
                      <a:endParaRPr lang="en-US" sz="1800" dirty="0">
                        <a:effectLst/>
                        <a:latin typeface="Cambria" panose="02040503050406030204" charset="0"/>
                        <a:cs typeface="Cambria" panose="02040503050406030204" charset="0"/>
                      </a:endParaRPr>
                    </a:p>
                  </a:txBody>
                  <a:tcPr marL="0" marR="0" marT="0" marB="0">
                    <a:lnL w="28575">
                      <a:solidFill>
                        <a:schemeClr val="tx1"/>
                      </a:solidFill>
                      <a:prstDash val="solid"/>
                    </a:lnL>
                    <a:lnR w="28575">
                      <a:solidFill>
                        <a:schemeClr val="tx1"/>
                      </a:solidFill>
                      <a:prstDash val="solid"/>
                    </a:lnR>
                    <a:lnT w="28575">
                      <a:solidFill>
                        <a:schemeClr val="tx1"/>
                      </a:solidFill>
                      <a:prstDash val="solid"/>
                    </a:lnT>
                    <a:lnB w="28575">
                      <a:solidFill>
                        <a:schemeClr val="tx1"/>
                      </a:solidFill>
                      <a:prstDash val="solid"/>
                    </a:lnB>
                  </a:tcPr>
                </a:tc>
                <a:extLst>
                  <a:ext uri="{0D108BD9-81ED-4DB2-BD59-A6C34878D82A}">
                    <a16:rowId xmlns:a16="http://schemas.microsoft.com/office/drawing/2014/main" val="10002"/>
                  </a:ext>
                </a:extLst>
              </a:tr>
            </a:tbl>
          </a:graphicData>
        </a:graphic>
      </p:graphicFrame>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u="sng" dirty="0"/>
              <a:t>Advantages:</a:t>
            </a:r>
            <a:endParaRPr lang="en-IN" b="1" dirty="0"/>
          </a:p>
        </p:txBody>
      </p:sp>
      <p:sp>
        <p:nvSpPr>
          <p:cNvPr id="3" name="Content Placeholder 2"/>
          <p:cNvSpPr>
            <a:spLocks noGrp="1"/>
          </p:cNvSpPr>
          <p:nvPr>
            <p:ph idx="1"/>
          </p:nvPr>
        </p:nvSpPr>
        <p:spPr/>
        <p:txBody>
          <a:bodyPr>
            <a:normAutofit/>
          </a:bodyPr>
          <a:lstStyle/>
          <a:p>
            <a:pPr marL="457200" lvl="0" indent="-457200" algn="just">
              <a:spcBef>
                <a:spcPts val="0"/>
              </a:spcBef>
              <a:spcAft>
                <a:spcPts val="0"/>
              </a:spcAft>
              <a:buClr>
                <a:schemeClr val="dk1"/>
              </a:buClr>
              <a:buSzPts val="3770"/>
              <a:buFont typeface="Noto Sans Symbols"/>
              <a:buChar char="▪"/>
            </a:pPr>
            <a:r>
              <a:rPr lang="en-US" sz="2400" dirty="0">
                <a:latin typeface="Cambria" panose="02040503050406030204" charset="0"/>
                <a:cs typeface="Cambria" panose="02040503050406030204" charset="0"/>
              </a:rPr>
              <a:t>This system will reduce the paper work </a:t>
            </a:r>
          </a:p>
          <a:p>
            <a:pPr marL="457200" lvl="0" indent="-457200" algn="just">
              <a:spcBef>
                <a:spcPts val="0"/>
              </a:spcBef>
              <a:spcAft>
                <a:spcPts val="0"/>
              </a:spcAft>
              <a:buClr>
                <a:schemeClr val="dk1"/>
              </a:buClr>
              <a:buSzPts val="3770"/>
              <a:buFont typeface="Noto Sans Symbols"/>
              <a:buChar char="▪"/>
            </a:pPr>
            <a:r>
              <a:rPr lang="en-US" sz="2400" dirty="0">
                <a:latin typeface="Cambria" panose="02040503050406030204" charset="0"/>
                <a:cs typeface="Cambria" panose="02040503050406030204" charset="0"/>
              </a:rPr>
              <a:t>Any government policies can be access within single click it used to takes a lot of time in existing system</a:t>
            </a:r>
          </a:p>
          <a:p>
            <a:pPr marL="457200" lvl="0" indent="-457200" algn="just">
              <a:spcBef>
                <a:spcPts val="0"/>
              </a:spcBef>
              <a:spcAft>
                <a:spcPts val="0"/>
              </a:spcAft>
              <a:buClr>
                <a:schemeClr val="dk1"/>
              </a:buClr>
              <a:buSzPts val="3770"/>
              <a:buFont typeface="Noto Sans Symbols"/>
              <a:buChar char="▪"/>
            </a:pPr>
            <a:r>
              <a:rPr lang="en-US" sz="2400" dirty="0">
                <a:latin typeface="Cambria" panose="02040503050406030204" charset="0"/>
                <a:cs typeface="Cambria" panose="02040503050406030204" charset="0"/>
              </a:rPr>
              <a:t>Government policies can reach up to major population in short duration</a:t>
            </a:r>
          </a:p>
          <a:p>
            <a:pPr marL="457200" lvl="0" indent="-457200" algn="just">
              <a:spcBef>
                <a:spcPts val="0"/>
              </a:spcBef>
              <a:spcAft>
                <a:spcPts val="0"/>
              </a:spcAft>
              <a:buClr>
                <a:schemeClr val="dk1"/>
              </a:buClr>
              <a:buSzPts val="3770"/>
              <a:buFont typeface="Noto Sans Symbols"/>
              <a:buChar char="▪"/>
            </a:pPr>
            <a:r>
              <a:rPr lang="en-US" sz="2400" dirty="0">
                <a:latin typeface="Cambria" panose="02040503050406030204" charset="0"/>
                <a:cs typeface="Cambria" panose="02040503050406030204" charset="0"/>
              </a:rPr>
              <a:t>Any illegal practices or corruption can be prevented</a:t>
            </a:r>
          </a:p>
          <a:p>
            <a:pPr marL="457200" lvl="0" indent="-457200" algn="just">
              <a:spcBef>
                <a:spcPts val="0"/>
              </a:spcBef>
              <a:spcAft>
                <a:spcPts val="0"/>
              </a:spcAft>
              <a:buClr>
                <a:schemeClr val="dk1"/>
              </a:buClr>
              <a:buSzPts val="3770"/>
              <a:buFont typeface="Noto Sans Symbols"/>
              <a:buChar char="▪"/>
            </a:pPr>
            <a:r>
              <a:rPr lang="en-US" sz="2400" dirty="0">
                <a:latin typeface="Cambria" panose="02040503050406030204" charset="0"/>
                <a:cs typeface="Cambria" panose="02040503050406030204" charset="0"/>
              </a:rPr>
              <a:t>This application is useful for implementing government policies effectively</a:t>
            </a:r>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u="sng" dirty="0"/>
              <a:t>Applications:</a:t>
            </a:r>
            <a:endParaRPr lang="en-IN" b="1" u="sng" dirty="0"/>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96230"/>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p:nvCxnSpPr>
        <p:spPr>
          <a:xfrm>
            <a:off x="581192" y="6384636"/>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8DB916B-04BC-3CCE-E4EB-550F0CB87FB8}"/>
              </a:ext>
            </a:extLst>
          </p:cNvPr>
          <p:cNvSpPr txBox="1"/>
          <p:nvPr/>
        </p:nvSpPr>
        <p:spPr>
          <a:xfrm>
            <a:off x="581191" y="2659229"/>
            <a:ext cx="11029615" cy="1815882"/>
          </a:xfrm>
          <a:prstGeom prst="rect">
            <a:avLst/>
          </a:prstGeom>
          <a:noFill/>
        </p:spPr>
        <p:txBody>
          <a:bodyPr wrap="square">
            <a:spAutoFit/>
          </a:bodyPr>
          <a:lstStyle/>
          <a:p>
            <a:pPr marL="457200" lvl="0" indent="-457200" algn="just" rtl="0">
              <a:lnSpc>
                <a:spcPct val="100000"/>
              </a:lnSpc>
              <a:spcBef>
                <a:spcPts val="0"/>
              </a:spcBef>
              <a:spcAft>
                <a:spcPts val="0"/>
              </a:spcAft>
              <a:buClr>
                <a:schemeClr val="dk1"/>
              </a:buClr>
              <a:buSzPts val="3770"/>
              <a:buFont typeface="Noto Sans Symbols"/>
              <a:buChar char="▪"/>
            </a:pPr>
            <a:r>
              <a:rPr lang="en-US" sz="2800" dirty="0">
                <a:latin typeface="Cambria" panose="02040503050406030204" charset="0"/>
                <a:cs typeface="Cambria" panose="02040503050406030204" charset="0"/>
              </a:rPr>
              <a:t>This system can be used by state or central authority to publish different government policies</a:t>
            </a:r>
          </a:p>
          <a:p>
            <a:pPr marL="457200" lvl="0" indent="-457200" algn="just" rtl="0">
              <a:lnSpc>
                <a:spcPct val="100000"/>
              </a:lnSpc>
              <a:spcBef>
                <a:spcPts val="0"/>
              </a:spcBef>
              <a:spcAft>
                <a:spcPts val="0"/>
              </a:spcAft>
              <a:buClr>
                <a:schemeClr val="dk1"/>
              </a:buClr>
              <a:buSzPts val="3770"/>
              <a:buFont typeface="Noto Sans Symbols"/>
              <a:buChar char="▪"/>
            </a:pPr>
            <a:r>
              <a:rPr lang="en-US" sz="2800" dirty="0">
                <a:latin typeface="Cambria" panose="02040503050406030204" charset="0"/>
                <a:cs typeface="Cambria" panose="02040503050406030204" charset="0"/>
              </a:rPr>
              <a:t>This system is mainly useful for common people who want take benefit of these policies.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u="sng" dirty="0"/>
              <a:t>Future Scope:</a:t>
            </a:r>
            <a:endParaRPr lang="en-IN" b="1" u="sng" dirty="0"/>
          </a:p>
        </p:txBody>
      </p:sp>
      <p:sp>
        <p:nvSpPr>
          <p:cNvPr id="3" name="Content Placeholder 2"/>
          <p:cNvSpPr>
            <a:spLocks noGrp="1"/>
          </p:cNvSpPr>
          <p:nvPr>
            <p:ph idx="1"/>
          </p:nvPr>
        </p:nvSpPr>
        <p:spPr/>
        <p:txBody>
          <a:bodyPr>
            <a:normAutofit/>
          </a:bodyPr>
          <a:lstStyle/>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Sarkari Yojana app also keep update about latest government policies from government hence it prevents any illegal practice about these scheme. </a:t>
            </a:r>
          </a:p>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Major population uses android phones hence these government policies can reach to large population which was not possible in existing system. So this app helps to increase reach of these policies. </a:t>
            </a:r>
          </a:p>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Government can implement these policies in effective way. As this app can be able to view or download PDF files of schemes under specific category. But we can also add some features in this app. </a:t>
            </a:r>
          </a:p>
        </p:txBody>
      </p:sp>
      <p:sp>
        <p:nvSpPr>
          <p:cNvPr id="4" name="TextBox 3"/>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96230"/>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a:off x="581192" y="6384636"/>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u="sng" dirty="0"/>
              <a:t>Conclusion:</a:t>
            </a:r>
            <a:endParaRPr lang="en-IN" b="1" dirty="0"/>
          </a:p>
        </p:txBody>
      </p:sp>
      <p:sp>
        <p:nvSpPr>
          <p:cNvPr id="3" name="Content Placeholder 2"/>
          <p:cNvSpPr>
            <a:spLocks noGrp="1"/>
          </p:cNvSpPr>
          <p:nvPr>
            <p:ph idx="1"/>
          </p:nvPr>
        </p:nvSpPr>
        <p:spPr>
          <a:xfrm>
            <a:off x="581191" y="2211145"/>
            <a:ext cx="11029615" cy="3678303"/>
          </a:xfrm>
        </p:spPr>
        <p:txBody>
          <a:bodyPr>
            <a:noAutofit/>
          </a:bodyPr>
          <a:lstStyle/>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The Government scheme App is implemented for common people which are away from these policies because of lack of knowledge. </a:t>
            </a:r>
          </a:p>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It is easy to sort out scheme information as compare to manual process. </a:t>
            </a:r>
          </a:p>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It provides better delivery of government services to rural area and beneficiaries can get different ideas related to government schemes within the time. </a:t>
            </a:r>
          </a:p>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Due to lack of knowledge some people take disadvantages of poor people and take charges for implementing such policies which is illegal.</a:t>
            </a:r>
          </a:p>
          <a:p>
            <a:pPr marL="457200" lvl="0" indent="-457200" algn="just">
              <a:spcBef>
                <a:spcPts val="0"/>
              </a:spcBef>
              <a:spcAft>
                <a:spcPts val="0"/>
              </a:spcAft>
              <a:buClr>
                <a:schemeClr val="dk1"/>
              </a:buClr>
              <a:buSzPts val="3770"/>
              <a:buFont typeface="Noto Sans Symbols"/>
              <a:buChar char="▪"/>
            </a:pPr>
            <a:r>
              <a:rPr lang="en-US" sz="2400" dirty="0">
                <a:solidFill>
                  <a:schemeClr val="tx1"/>
                </a:solidFill>
                <a:latin typeface="Cambria" panose="02040503050406030204" charset="0"/>
                <a:cs typeface="Cambria" panose="02040503050406030204" charset="0"/>
              </a:rPr>
              <a:t>Often many people who need such kind of help were unable to access it simply because they didn’t hear about it. </a:t>
            </a:r>
          </a:p>
          <a:p>
            <a:pPr marL="0" indent="0">
              <a:buNone/>
            </a:pPr>
            <a:endParaRPr lang="en-IN" sz="2400" dirty="0">
              <a:solidFill>
                <a:schemeClr val="tx1"/>
              </a:solidFill>
            </a:endParaRPr>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a:t>
            </a:r>
            <a:endParaRPr lang="en-IN" dirty="0"/>
          </a:p>
        </p:txBody>
      </p:sp>
      <p:pic>
        <p:nvPicPr>
          <p:cNvPr id="4" name="Picture 2" descr="C:\Users\staff\Desktop\1iRHtxbT_40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684685"/>
            <a:ext cx="1349208" cy="10138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p:cNvCxnSpPr/>
          <p:nvPr/>
        </p:nvCxnSpPr>
        <p:spPr>
          <a:xfrm>
            <a:off x="581192" y="6373091"/>
            <a:ext cx="11029615"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08001" y="6384636"/>
            <a:ext cx="2789382" cy="281231"/>
          </a:xfrm>
          <a:prstGeom prst="rect">
            <a:avLst/>
          </a:prstGeom>
          <a:noFill/>
        </p:spPr>
        <p:txBody>
          <a:bodyPr wrap="square">
            <a:spAutoFit/>
          </a:bodyPr>
          <a:lstStyle/>
          <a:p>
            <a:pPr>
              <a:lnSpc>
                <a:spcPct val="107000"/>
              </a:lnSpc>
              <a:spcAft>
                <a:spcPts val="800"/>
              </a:spcAft>
            </a:pPr>
            <a:r>
              <a:rPr lang="en-US"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rPr>
              <a:t>Sandip polytechnic, Nashik</a:t>
            </a:r>
            <a:endParaRPr lang="en-IN" sz="1200" b="1" dirty="0">
              <a:solidFill>
                <a:srgbClr val="1A326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Box 19"/>
          <p:cNvSpPr txBox="1"/>
          <p:nvPr/>
        </p:nvSpPr>
        <p:spPr>
          <a:xfrm>
            <a:off x="3786910" y="3268933"/>
            <a:ext cx="6096000" cy="1225272"/>
          </a:xfrm>
          <a:prstGeom prst="rect">
            <a:avLst/>
          </a:prstGeom>
          <a:noFill/>
        </p:spPr>
        <p:txBody>
          <a:bodyPr wrap="square">
            <a:spAutoFit/>
          </a:bodyPr>
          <a:lstStyle/>
          <a:p>
            <a:pPr>
              <a:lnSpc>
                <a:spcPct val="107000"/>
              </a:lnSpc>
              <a:spcAft>
                <a:spcPts val="800"/>
              </a:spcAft>
            </a:pPr>
            <a:r>
              <a:rPr lang="en-IN" sz="7200" b="1" u="sng" dirty="0">
                <a:solidFill>
                  <a:schemeClr val="accent1">
                    <a:lumMod val="75000"/>
                  </a:schemeClr>
                </a:solidFill>
                <a:effectLst/>
                <a:latin typeface="Cambria" panose="02040503050406030204" pitchFamily="18" charset="0"/>
                <a:ea typeface="Cambria" panose="020405030504060302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84</TotalTime>
  <Words>1021</Words>
  <Application>Microsoft Office PowerPoint</Application>
  <PresentationFormat>Widescreen</PresentationFormat>
  <Paragraphs>123</Paragraphs>
  <Slides>18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vt:lpstr>
      <vt:lpstr>Book Antiqua</vt:lpstr>
      <vt:lpstr>Calibri</vt:lpstr>
      <vt:lpstr>Cambria</vt:lpstr>
      <vt:lpstr>Gill Sans MT</vt:lpstr>
      <vt:lpstr>Impact</vt:lpstr>
      <vt:lpstr>Noto Sans Symbols</vt:lpstr>
      <vt:lpstr>Times New Roman</vt:lpstr>
      <vt:lpstr>Wingdings</vt:lpstr>
      <vt:lpstr>Wingdings 2</vt:lpstr>
      <vt:lpstr>Dividend</vt:lpstr>
      <vt:lpstr>PowerPoint Presentation</vt:lpstr>
      <vt:lpstr>1</vt:lpstr>
      <vt:lpstr>    Contents:</vt:lpstr>
      <vt:lpstr>    Introduction:</vt:lpstr>
      <vt:lpstr>    Existing system:</vt:lpstr>
      <vt:lpstr>      Drawbacks of existing system:</vt:lpstr>
      <vt:lpstr>    Proposed system:</vt:lpstr>
      <vt:lpstr>    Block Diagram:</vt:lpstr>
      <vt:lpstr> Data Flow Diagram:-       DFD – level 0 :</vt:lpstr>
      <vt:lpstr> Data Flow Diagram:-       DFD – level 1 :</vt:lpstr>
      <vt:lpstr>WHAT WE DID SO FAR:-    </vt:lpstr>
      <vt:lpstr>OUR WORK</vt:lpstr>
      <vt:lpstr>    Requirement Analysis:</vt:lpstr>
      <vt:lpstr>    Advantages:</vt:lpstr>
      <vt:lpstr>    Applications:</vt:lpstr>
      <vt:lpstr>    Future Scope:</vt:lpstr>
      <vt:lpstr>    Conclusion:</vt:lpstr>
      <vt:lpstr>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Mohit  Shirvi</dc:creator>
  <cp:lastModifiedBy>Kirti Chavan</cp:lastModifiedBy>
  <cp:revision>17</cp:revision>
  <dcterms:created xsi:type="dcterms:W3CDTF">2022-12-05T12:47:00Z</dcterms:created>
  <dcterms:modified xsi:type="dcterms:W3CDTF">2023-10-14T06:35:19Z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B27D64885F094614AD3C220D396FB392_12</vt:lpwstr>
  </property>
  <property fmtid="{D5CDD505-2E9C-101B-9397-08002B2CF9AE}" pid="3" name="KSOProductBuildVer">
    <vt:lpwstr>1033-12.2.0.13181</vt:lpwstr>
  </property>
</Properties>
</file>